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Roboto"/>
      <p:regular r:id="rId32"/>
      <p:bold r:id="rId33"/>
      <p:italic r:id="rId34"/>
      <p:boldItalic r:id="rId35"/>
    </p:embeddedFont>
    <p:embeddedFont>
      <p:font typeface="Gill Sans"/>
      <p:regular r:id="rId36"/>
      <p:bold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014AE2-0E95-4C53-BBF8-137F0D5D0B5B}">
  <a:tblStyle styleId="{F1014AE2-0E95-4C53-BBF8-137F0D5D0B5B}" styleName="Table_0">
    <a:wholeTbl>
      <a:tcTxStyle b="off" i="off">
        <a:font>
          <a:latin typeface="Gill Sans MT"/>
          <a:ea typeface="Gill Sans MT"/>
          <a:cs typeface="Gill Sans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3E7E8"/>
          </a:solidFill>
        </a:fill>
      </a:tcStyle>
    </a:wholeTbl>
    <a:band1H>
      <a:tcTxStyle/>
      <a:tcStyle>
        <a:fill>
          <a:solidFill>
            <a:srgbClr val="E5CBCD"/>
          </a:solidFill>
        </a:fill>
      </a:tcStyle>
    </a:band1H>
    <a:band2H>
      <a:tcTxStyle/>
    </a:band2H>
    <a:band1V>
      <a:tcTxStyle/>
      <a:tcStyle>
        <a:fill>
          <a:solidFill>
            <a:srgbClr val="E5CBCD"/>
          </a:solidFill>
        </a:fill>
      </a:tcStyle>
    </a:band1V>
    <a:band2V>
      <a:tcTxStyle/>
    </a:band2V>
    <a:lastCol>
      <a:tcTxStyle b="on" i="off">
        <a:font>
          <a:latin typeface="Gill Sans MT"/>
          <a:ea typeface="Gill Sans MT"/>
          <a:cs typeface="Gill Sans MT"/>
        </a:font>
        <a:schemeClr val="lt1"/>
      </a:tcTxStyle>
      <a:tcStyle>
        <a:fill>
          <a:solidFill>
            <a:schemeClr val="accent1"/>
          </a:solidFill>
        </a:fill>
      </a:tcStyle>
    </a:lastCol>
    <a:firstCol>
      <a:tcTxStyle b="on" i="off">
        <a:font>
          <a:latin typeface="Gill Sans MT"/>
          <a:ea typeface="Gill Sans MT"/>
          <a:cs typeface="Gill Sans MT"/>
        </a:font>
        <a:schemeClr val="lt1"/>
      </a:tcTxStyle>
      <a:tcStyle>
        <a:fill>
          <a:solidFill>
            <a:schemeClr val="accent1"/>
          </a:solidFill>
        </a:fill>
      </a:tcStyle>
    </a:firstCol>
    <a:lastRow>
      <a:tcTxStyle b="on" i="off">
        <a:font>
          <a:latin typeface="Gill Sans MT"/>
          <a:ea typeface="Gill Sans MT"/>
          <a:cs typeface="Gill Sans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Gill Sans MT"/>
          <a:ea typeface="Gill Sans MT"/>
          <a:cs typeface="Gill Sans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bold.fntdata"/><Relationship Id="rId10" Type="http://schemas.openxmlformats.org/officeDocument/2006/relationships/slide" Target="slides/slide5.xml"/><Relationship Id="rId32" Type="http://schemas.openxmlformats.org/officeDocument/2006/relationships/font" Target="fonts/Roboto-regular.fntdata"/><Relationship Id="rId13" Type="http://schemas.openxmlformats.org/officeDocument/2006/relationships/slide" Target="slides/slide8.xml"/><Relationship Id="rId35" Type="http://schemas.openxmlformats.org/officeDocument/2006/relationships/font" Target="fonts/Roboto-boldItalic.fntdata"/><Relationship Id="rId12" Type="http://schemas.openxmlformats.org/officeDocument/2006/relationships/slide" Target="slides/slide7.xml"/><Relationship Id="rId34" Type="http://schemas.openxmlformats.org/officeDocument/2006/relationships/font" Target="fonts/Roboto-italic.fntdata"/><Relationship Id="rId15" Type="http://schemas.openxmlformats.org/officeDocument/2006/relationships/slide" Target="slides/slide10.xml"/><Relationship Id="rId37" Type="http://schemas.openxmlformats.org/officeDocument/2006/relationships/font" Target="fonts/GillSans-bold.fntdata"/><Relationship Id="rId14" Type="http://schemas.openxmlformats.org/officeDocument/2006/relationships/slide" Target="slides/slide9.xml"/><Relationship Id="rId36" Type="http://schemas.openxmlformats.org/officeDocument/2006/relationships/font" Target="fonts/GillSans-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2"/>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2" name="Shape 22"/>
        <p:cNvGrpSpPr/>
        <p:nvPr/>
      </p:nvGrpSpPr>
      <p:grpSpPr>
        <a:xfrm>
          <a:off x="0" y="0"/>
          <a:ext cx="0" cy="0"/>
          <a:chOff x="0" y="0"/>
          <a:chExt cx="0" cy="0"/>
        </a:xfrm>
      </p:grpSpPr>
      <p:sp>
        <p:nvSpPr>
          <p:cNvPr id="23" name="Google Shape;23;p3"/>
          <p:cNvSpPr txBox="1"/>
          <p:nvPr>
            <p:ph type="title"/>
          </p:nvPr>
        </p:nvSpPr>
        <p:spPr>
          <a:xfrm>
            <a:off x="1449217" y="804889"/>
            <a:ext cx="9605635" cy="105930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body"/>
          </p:nvPr>
        </p:nvSpPr>
        <p:spPr>
          <a:xfrm>
            <a:off x="1447331" y="2010878"/>
            <a:ext cx="4645152" cy="344859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25" name="Google Shape;25;p3"/>
          <p:cNvSpPr txBox="1"/>
          <p:nvPr>
            <p:ph idx="2" type="body"/>
          </p:nvPr>
        </p:nvSpPr>
        <p:spPr>
          <a:xfrm>
            <a:off x="6413771" y="2017343"/>
            <a:ext cx="4645152" cy="344152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26" name="Google Shape;26;p3"/>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29" name="Google Shape;29;p3"/>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4"/>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33" name="Google Shape;33;p4"/>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36" name="Google Shape;36;p4"/>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7" name="Shape 37"/>
        <p:cNvGrpSpPr/>
        <p:nvPr/>
      </p:nvGrpSpPr>
      <p:grpSpPr>
        <a:xfrm>
          <a:off x="0" y="0"/>
          <a:ext cx="0" cy="0"/>
          <a:chOff x="0" y="0"/>
          <a:chExt cx="0" cy="0"/>
        </a:xfrm>
      </p:grpSpPr>
      <p:sp>
        <p:nvSpPr>
          <p:cNvPr id="38" name="Google Shape;38;p5"/>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lvl1pPr lvl="0" algn="l">
              <a:lnSpc>
                <a:spcPct val="90000"/>
              </a:lnSpc>
              <a:spcBef>
                <a:spcPts val="0"/>
              </a:spcBef>
              <a:spcAft>
                <a:spcPts val="0"/>
              </a:spcAft>
              <a:buClr>
                <a:schemeClr val="dk1"/>
              </a:buClr>
              <a:buSzPts val="6600"/>
              <a:buFont typeface="Gill Sans"/>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lvl1pPr lvl="0" algn="l">
              <a:lnSpc>
                <a:spcPct val="120000"/>
              </a:lnSpc>
              <a:spcBef>
                <a:spcPts val="1000"/>
              </a:spcBef>
              <a:spcAft>
                <a:spcPts val="0"/>
              </a:spcAft>
              <a:buSzPts val="1800"/>
              <a:buNone/>
              <a:defRPr b="0" sz="1800" cap="none">
                <a:solidFill>
                  <a:schemeClr val="dk1"/>
                </a:solidFill>
              </a:defRPr>
            </a:lvl1pPr>
            <a:lvl2pPr lvl="1" algn="ctr">
              <a:lnSpc>
                <a:spcPct val="120000"/>
              </a:lnSpc>
              <a:spcBef>
                <a:spcPts val="500"/>
              </a:spcBef>
              <a:spcAft>
                <a:spcPts val="0"/>
              </a:spcAft>
              <a:buSzPts val="1800"/>
              <a:buNone/>
              <a:defRPr sz="18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p:txBody>
      </p:sp>
      <p:sp>
        <p:nvSpPr>
          <p:cNvPr id="40" name="Google Shape;40;p5"/>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1" type="ftr"/>
          </p:nvPr>
        </p:nvSpPr>
        <p:spPr>
          <a:xfrm>
            <a:off x="2416500" y="329307"/>
            <a:ext cx="4973915"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
          <p:cNvSpPr txBox="1"/>
          <p:nvPr>
            <p:ph idx="12" type="sldNum"/>
          </p:nvPr>
        </p:nvSpPr>
        <p:spPr>
          <a:xfrm>
            <a:off x="1437664"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43" name="Google Shape;43;p5"/>
          <p:cNvCxnSpPr/>
          <p:nvPr/>
        </p:nvCxnSpPr>
        <p:spPr>
          <a:xfrm>
            <a:off x="2417780" y="3528542"/>
            <a:ext cx="863707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6"/>
          <p:cNvSpPr txBox="1"/>
          <p:nvPr>
            <p:ph type="title"/>
          </p:nvPr>
        </p:nvSpPr>
        <p:spPr>
          <a:xfrm>
            <a:off x="1454239" y="1756130"/>
            <a:ext cx="8643154" cy="18879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6"/>
          <p:cNvSpPr txBox="1"/>
          <p:nvPr>
            <p:ph idx="1" type="body"/>
          </p:nvPr>
        </p:nvSpPr>
        <p:spPr>
          <a:xfrm>
            <a:off x="1454239" y="3806195"/>
            <a:ext cx="8630446" cy="1012929"/>
          </a:xfrm>
          <a:prstGeom prst="rect">
            <a:avLst/>
          </a:prstGeom>
          <a:noFill/>
          <a:ln>
            <a:noFill/>
          </a:ln>
        </p:spPr>
        <p:txBody>
          <a:bodyPr anchorCtr="0" anchor="t" bIns="45700" lIns="91425" spcFirstLastPara="1" rIns="91425" wrap="square" tIns="91425">
            <a:normAutofit/>
          </a:bodyPr>
          <a:lstStyle>
            <a:lvl1pPr indent="-228600" lvl="0" marL="457200" algn="l">
              <a:lnSpc>
                <a:spcPct val="120000"/>
              </a:lnSpc>
              <a:spcBef>
                <a:spcPts val="1000"/>
              </a:spcBef>
              <a:spcAft>
                <a:spcPts val="0"/>
              </a:spcAft>
              <a:buSzPts val="1800"/>
              <a:buNone/>
              <a:defRPr sz="1800">
                <a:solidFill>
                  <a:schemeClr val="dk1"/>
                </a:solidFill>
              </a:defRPr>
            </a:lvl1pPr>
            <a:lvl2pPr indent="-228600" lvl="1" marL="914400" algn="l">
              <a:lnSpc>
                <a:spcPct val="120000"/>
              </a:lnSpc>
              <a:spcBef>
                <a:spcPts val="500"/>
              </a:spcBef>
              <a:spcAft>
                <a:spcPts val="0"/>
              </a:spcAft>
              <a:buSzPts val="1800"/>
              <a:buNone/>
              <a:defRPr sz="1800">
                <a:solidFill>
                  <a:srgbClr val="888888"/>
                </a:solidFill>
              </a:defRPr>
            </a:lvl2pPr>
            <a:lvl3pPr indent="-228600" lvl="2" marL="1371600" algn="l">
              <a:lnSpc>
                <a:spcPct val="120000"/>
              </a:lnSpc>
              <a:spcBef>
                <a:spcPts val="500"/>
              </a:spcBef>
              <a:spcAft>
                <a:spcPts val="0"/>
              </a:spcAft>
              <a:buSzPts val="1800"/>
              <a:buNone/>
              <a:defRPr sz="1800">
                <a:solidFill>
                  <a:srgbClr val="888888"/>
                </a:solidFill>
              </a:defRPr>
            </a:lvl3pPr>
            <a:lvl4pPr indent="-228600" lvl="3" marL="1828800" algn="l">
              <a:lnSpc>
                <a:spcPct val="120000"/>
              </a:lnSpc>
              <a:spcBef>
                <a:spcPts val="500"/>
              </a:spcBef>
              <a:spcAft>
                <a:spcPts val="0"/>
              </a:spcAft>
              <a:buSzPts val="1600"/>
              <a:buNone/>
              <a:defRPr sz="1600">
                <a:solidFill>
                  <a:srgbClr val="888888"/>
                </a:solidFill>
              </a:defRPr>
            </a:lvl4pPr>
            <a:lvl5pPr indent="-228600" lvl="4" marL="2286000" algn="l">
              <a:lnSpc>
                <a:spcPct val="120000"/>
              </a:lnSpc>
              <a:spcBef>
                <a:spcPts val="500"/>
              </a:spcBef>
              <a:spcAft>
                <a:spcPts val="0"/>
              </a:spcAft>
              <a:buSzPts val="1600"/>
              <a:buNone/>
              <a:defRPr sz="1600">
                <a:solidFill>
                  <a:srgbClr val="888888"/>
                </a:solidFill>
              </a:defRPr>
            </a:lvl5pPr>
            <a:lvl6pPr indent="-228600" lvl="5" marL="2743200" algn="l">
              <a:lnSpc>
                <a:spcPct val="120000"/>
              </a:lnSpc>
              <a:spcBef>
                <a:spcPts val="500"/>
              </a:spcBef>
              <a:spcAft>
                <a:spcPts val="0"/>
              </a:spcAft>
              <a:buSzPts val="1600"/>
              <a:buNone/>
              <a:defRPr sz="1600">
                <a:solidFill>
                  <a:srgbClr val="888888"/>
                </a:solidFill>
              </a:defRPr>
            </a:lvl6pPr>
            <a:lvl7pPr indent="-228600" lvl="6" marL="3200400" algn="l">
              <a:lnSpc>
                <a:spcPct val="120000"/>
              </a:lnSpc>
              <a:spcBef>
                <a:spcPts val="500"/>
              </a:spcBef>
              <a:spcAft>
                <a:spcPts val="0"/>
              </a:spcAft>
              <a:buSzPts val="1600"/>
              <a:buNone/>
              <a:defRPr sz="1600">
                <a:solidFill>
                  <a:srgbClr val="888888"/>
                </a:solidFill>
              </a:defRPr>
            </a:lvl7pPr>
            <a:lvl8pPr indent="-228600" lvl="7" marL="3657600" algn="l">
              <a:lnSpc>
                <a:spcPct val="120000"/>
              </a:lnSpc>
              <a:spcBef>
                <a:spcPts val="500"/>
              </a:spcBef>
              <a:spcAft>
                <a:spcPts val="0"/>
              </a:spcAft>
              <a:buSzPts val="1600"/>
              <a:buNone/>
              <a:defRPr sz="1600">
                <a:solidFill>
                  <a:srgbClr val="888888"/>
                </a:solidFill>
              </a:defRPr>
            </a:lvl8pPr>
            <a:lvl9pPr indent="-228600" lvl="8" marL="4114800" algn="l">
              <a:lnSpc>
                <a:spcPct val="120000"/>
              </a:lnSpc>
              <a:spcBef>
                <a:spcPts val="500"/>
              </a:spcBef>
              <a:spcAft>
                <a:spcPts val="0"/>
              </a:spcAft>
              <a:buSzPts val="1600"/>
              <a:buNone/>
              <a:defRPr sz="1600">
                <a:solidFill>
                  <a:srgbClr val="888888"/>
                </a:solidFill>
              </a:defRPr>
            </a:lvl9pPr>
          </a:lstStyle>
          <a:p/>
        </p:txBody>
      </p:sp>
      <p:sp>
        <p:nvSpPr>
          <p:cNvPr id="47" name="Google Shape;47;p6"/>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50" name="Google Shape;50;p6"/>
          <p:cNvCxnSpPr/>
          <p:nvPr/>
        </p:nvCxnSpPr>
        <p:spPr>
          <a:xfrm>
            <a:off x="1454239" y="3804985"/>
            <a:ext cx="8630446"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7"/>
          <p:cNvSpPr txBox="1"/>
          <p:nvPr>
            <p:ph type="title"/>
          </p:nvPr>
        </p:nvSpPr>
        <p:spPr>
          <a:xfrm>
            <a:off x="1447191" y="804163"/>
            <a:ext cx="9607661" cy="105631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7"/>
          <p:cNvSpPr txBox="1"/>
          <p:nvPr>
            <p:ph idx="1" type="body"/>
          </p:nvPr>
        </p:nvSpPr>
        <p:spPr>
          <a:xfrm>
            <a:off x="1447191" y="2019549"/>
            <a:ext cx="4645152" cy="801943"/>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4" name="Google Shape;54;p7"/>
          <p:cNvSpPr txBox="1"/>
          <p:nvPr>
            <p:ph idx="2" type="body"/>
          </p:nvPr>
        </p:nvSpPr>
        <p:spPr>
          <a:xfrm>
            <a:off x="1447191" y="2824269"/>
            <a:ext cx="4645152" cy="264445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5" name="Google Shape;55;p7"/>
          <p:cNvSpPr txBox="1"/>
          <p:nvPr>
            <p:ph idx="3" type="body"/>
          </p:nvPr>
        </p:nvSpPr>
        <p:spPr>
          <a:xfrm>
            <a:off x="6412362" y="2023003"/>
            <a:ext cx="4645152" cy="80223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6" name="Google Shape;56;p7"/>
          <p:cNvSpPr txBox="1"/>
          <p:nvPr>
            <p:ph idx="4" type="body"/>
          </p:nvPr>
        </p:nvSpPr>
        <p:spPr>
          <a:xfrm>
            <a:off x="6412362" y="2821491"/>
            <a:ext cx="4645152" cy="263737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7" name="Google Shape;57;p7"/>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7"/>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60" name="Google Shape;60;p7"/>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8"/>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8"/>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66" name="Google Shape;66;p8"/>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7" name="Shape 67"/>
        <p:cNvGrpSpPr/>
        <p:nvPr/>
      </p:nvGrpSpPr>
      <p:grpSpPr>
        <a:xfrm>
          <a:off x="0" y="0"/>
          <a:ext cx="0" cy="0"/>
          <a:chOff x="0" y="0"/>
          <a:chExt cx="0" cy="0"/>
        </a:xfrm>
      </p:grpSpPr>
      <p:sp>
        <p:nvSpPr>
          <p:cNvPr id="68" name="Google Shape;68;p9"/>
          <p:cNvSpPr txBox="1"/>
          <p:nvPr>
            <p:ph type="title"/>
          </p:nvPr>
        </p:nvSpPr>
        <p:spPr>
          <a:xfrm>
            <a:off x="1444671" y="798973"/>
            <a:ext cx="3273099" cy="22471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Gill San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9"/>
          <p:cNvSpPr txBox="1"/>
          <p:nvPr>
            <p:ph idx="1" type="body"/>
          </p:nvPr>
        </p:nvSpPr>
        <p:spPr>
          <a:xfrm>
            <a:off x="5043714" y="798974"/>
            <a:ext cx="6012470" cy="4658826"/>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70" name="Google Shape;70;p9"/>
          <p:cNvSpPr txBox="1"/>
          <p:nvPr>
            <p:ph idx="2" type="body"/>
          </p:nvPr>
        </p:nvSpPr>
        <p:spPr>
          <a:xfrm>
            <a:off x="1444671" y="3205491"/>
            <a:ext cx="3275013" cy="2248181"/>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71" name="Google Shape;71;p9"/>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9"/>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74" name="Google Shape;74;p9"/>
          <p:cNvCxnSpPr/>
          <p:nvPr/>
        </p:nvCxnSpPr>
        <p:spPr>
          <a:xfrm>
            <a:off x="1448280" y="3205491"/>
            <a:ext cx="3269490"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grpSp>
        <p:nvGrpSpPr>
          <p:cNvPr id="76" name="Google Shape;76;p10"/>
          <p:cNvGrpSpPr/>
          <p:nvPr/>
        </p:nvGrpSpPr>
        <p:grpSpPr>
          <a:xfrm>
            <a:off x="7477387" y="482170"/>
            <a:ext cx="4074533" cy="5149101"/>
            <a:chOff x="7477387" y="482170"/>
            <a:chExt cx="4074533" cy="5149101"/>
          </a:xfrm>
        </p:grpSpPr>
        <p:sp>
          <p:nvSpPr>
            <p:cNvPr id="77" name="Google Shape;77;p10"/>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sx="98000" rotWithShape="0" algn="tl" dir="4740000" dist="228600" sy="98000">
                <a:srgbClr val="000000">
                  <a:alpha val="3372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0"/>
            <p:cNvSpPr/>
            <p:nvPr/>
          </p:nvSpPr>
          <p:spPr>
            <a:xfrm>
              <a:off x="7790446" y="812506"/>
              <a:ext cx="3450289" cy="4466452"/>
            </a:xfrm>
            <a:prstGeom prst="rect">
              <a:avLst/>
            </a:prstGeom>
            <a:gradFill>
              <a:gsLst>
                <a:gs pos="0">
                  <a:srgbClr val="DADADA"/>
                </a:gs>
                <a:gs pos="100000">
                  <a:srgbClr val="FFFFFE"/>
                </a:gs>
              </a:gsLst>
              <a:lin ang="16200000" scaled="0"/>
            </a:gradFill>
            <a:ln cap="flat" cmpd="sng" w="50800">
              <a:solidFill>
                <a:srgbClr val="191919"/>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 name="Google Shape;79;p10"/>
          <p:cNvSpPr txBox="1"/>
          <p:nvPr>
            <p:ph type="title"/>
          </p:nvPr>
        </p:nvSpPr>
        <p:spPr>
          <a:xfrm>
            <a:off x="1451206" y="1129513"/>
            <a:ext cx="5532328" cy="18305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0"/>
          <p:cNvSpPr/>
          <p:nvPr>
            <p:ph idx="2" type="pic"/>
          </p:nvPr>
        </p:nvSpPr>
        <p:spPr>
          <a:xfrm>
            <a:off x="8124389" y="1122542"/>
            <a:ext cx="2791171" cy="3866327"/>
          </a:xfrm>
          <a:prstGeom prst="rect">
            <a:avLst/>
          </a:prstGeom>
          <a:solidFill>
            <a:srgbClr val="D8D8D8"/>
          </a:solidFill>
          <a:ln>
            <a:noFill/>
          </a:ln>
        </p:spPr>
      </p:sp>
      <p:sp>
        <p:nvSpPr>
          <p:cNvPr id="81" name="Google Shape;81;p10"/>
          <p:cNvSpPr txBox="1"/>
          <p:nvPr>
            <p:ph idx="1" type="body"/>
          </p:nvPr>
        </p:nvSpPr>
        <p:spPr>
          <a:xfrm>
            <a:off x="1450329" y="3145992"/>
            <a:ext cx="5524404" cy="200374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800"/>
              <a:buNone/>
              <a:defRPr sz="18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82" name="Google Shape;82;p10"/>
          <p:cNvSpPr txBox="1"/>
          <p:nvPr>
            <p:ph idx="10" type="dt"/>
          </p:nvPr>
        </p:nvSpPr>
        <p:spPr>
          <a:xfrm>
            <a:off x="1447382" y="5469856"/>
            <a:ext cx="5527351" cy="32012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0"/>
          <p:cNvSpPr txBox="1"/>
          <p:nvPr>
            <p:ph idx="11" type="ftr"/>
          </p:nvPr>
        </p:nvSpPr>
        <p:spPr>
          <a:xfrm>
            <a:off x="1447382" y="318640"/>
            <a:ext cx="5541004" cy="32093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0"/>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85" name="Google Shape;85;p10"/>
          <p:cNvCxnSpPr/>
          <p:nvPr/>
        </p:nvCxnSpPr>
        <p:spPr>
          <a:xfrm>
            <a:off x="1447382" y="3143605"/>
            <a:ext cx="5527351"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6" name="Shape 86"/>
        <p:cNvGrpSpPr/>
        <p:nvPr/>
      </p:nvGrpSpPr>
      <p:grpSpPr>
        <a:xfrm>
          <a:off x="0" y="0"/>
          <a:ext cx="0" cy="0"/>
          <a:chOff x="0" y="0"/>
          <a:chExt cx="0" cy="0"/>
        </a:xfrm>
      </p:grpSpPr>
      <p:sp>
        <p:nvSpPr>
          <p:cNvPr id="87" name="Google Shape;87;p1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1"/>
          <p:cNvSpPr txBox="1"/>
          <p:nvPr>
            <p:ph idx="1" type="body"/>
          </p:nvPr>
        </p:nvSpPr>
        <p:spPr>
          <a:xfrm rot="5400000">
            <a:off x="4527910" y="-1060599"/>
            <a:ext cx="3450613" cy="960327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89" name="Google Shape;89;p11"/>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1"/>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1"/>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92" name="Google Shape;92;p11"/>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3" name="Shape 93"/>
        <p:cNvGrpSpPr/>
        <p:nvPr/>
      </p:nvGrpSpPr>
      <p:grpSpPr>
        <a:xfrm>
          <a:off x="0" y="0"/>
          <a:ext cx="0" cy="0"/>
          <a:chOff x="0" y="0"/>
          <a:chExt cx="0" cy="0"/>
        </a:xfrm>
      </p:grpSpPr>
      <p:sp>
        <p:nvSpPr>
          <p:cNvPr id="94" name="Google Shape;94;p12"/>
          <p:cNvSpPr txBox="1"/>
          <p:nvPr>
            <p:ph type="title"/>
          </p:nvPr>
        </p:nvSpPr>
        <p:spPr>
          <a:xfrm rot="5400000">
            <a:off x="7917038" y="2321047"/>
            <a:ext cx="4659889" cy="161574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12"/>
          <p:cNvSpPr txBox="1"/>
          <p:nvPr>
            <p:ph idx="1" type="body"/>
          </p:nvPr>
        </p:nvSpPr>
        <p:spPr>
          <a:xfrm rot="5400000">
            <a:off x="3029143" y="-785498"/>
            <a:ext cx="4659889" cy="782883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96" name="Google Shape;96;p12"/>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2"/>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2"/>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99" name="Google Shape;99;p12"/>
          <p:cNvCxnSpPr/>
          <p:nvPr/>
        </p:nvCxnSpPr>
        <p:spPr>
          <a:xfrm>
            <a:off x="9439111" y="798973"/>
            <a:ext cx="0" cy="4659889"/>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BE9E6"/>
            </a:gs>
            <a:gs pos="100000">
              <a:srgbClr val="C9C5C0"/>
            </a:gs>
          </a:gsLst>
          <a:path path="circle">
            <a:fillToRect b="50%" l="50%" r="50%" t="50%"/>
          </a:path>
          <a:tileRect/>
        </a:gradFill>
      </p:bgPr>
    </p:bg>
    <p:spTree>
      <p:nvGrpSpPr>
        <p:cNvPr id="9" name="Shape 9"/>
        <p:cNvGrpSpPr/>
        <p:nvPr/>
      </p:nvGrpSpPr>
      <p:grpSpPr>
        <a:xfrm>
          <a:off x="0" y="0"/>
          <a:ext cx="0" cy="0"/>
          <a:chOff x="0" y="0"/>
          <a:chExt cx="0" cy="0"/>
        </a:xfrm>
      </p:grpSpPr>
      <p:sp>
        <p:nvSpPr>
          <p:cNvPr id="10" name="Google Shape;10;p1"/>
          <p:cNvSpPr/>
          <p:nvPr/>
        </p:nvSpPr>
        <p:spPr>
          <a:xfrm>
            <a:off x="0" y="2019476"/>
            <a:ext cx="12192000" cy="4105941"/>
          </a:xfrm>
          <a:prstGeom prst="rect">
            <a:avLst/>
          </a:prstGeom>
          <a:gradFill>
            <a:gsLst>
              <a:gs pos="0">
                <a:srgbClr val="DFDBD5">
                  <a:alpha val="0"/>
                </a:srgbClr>
              </a:gs>
              <a:gs pos="100000">
                <a:schemeClr val="lt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 name="Google Shape;11;p1"/>
          <p:cNvPicPr preferRelativeResize="0"/>
          <p:nvPr/>
        </p:nvPicPr>
        <p:blipFill rotWithShape="1">
          <a:blip r:embed="rId1">
            <a:alphaModFix/>
          </a:blip>
          <a:srcRect b="-1538" l="0" r="0" t="1538"/>
          <a:stretch/>
        </p:blipFill>
        <p:spPr>
          <a:xfrm>
            <a:off x="0" y="6126480"/>
            <a:ext cx="12192000" cy="742950"/>
          </a:xfrm>
          <a:prstGeom prst="rect">
            <a:avLst/>
          </a:prstGeom>
          <a:noFill/>
          <a:ln>
            <a:noFill/>
          </a:ln>
        </p:spPr>
      </p:pic>
      <p:sp>
        <p:nvSpPr>
          <p:cNvPr id="12" name="Google Shape;12;p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Gill Sans"/>
              <a:buNone/>
              <a:defRPr b="0" i="0" sz="3200" u="none" cap="none" strike="noStrik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accent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20000"/>
              </a:lnSpc>
              <a:spcBef>
                <a:spcPts val="500"/>
              </a:spcBef>
              <a:spcAft>
                <a:spcPts val="0"/>
              </a:spcAft>
              <a:buClr>
                <a:schemeClr val="accent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20000"/>
              </a:lnSpc>
              <a:spcBef>
                <a:spcPts val="500"/>
              </a:spcBef>
              <a:spcAft>
                <a:spcPts val="0"/>
              </a:spcAft>
              <a:buClr>
                <a:schemeClr val="accent1"/>
              </a:buClr>
              <a:buSzPts val="1600"/>
              <a:buFont typeface="Arial"/>
              <a:buChar char="•"/>
              <a:defRPr b="0" i="0" sz="1600" u="none" cap="none" strike="noStrike">
                <a:solidFill>
                  <a:schemeClr val="dk1"/>
                </a:solidFill>
                <a:latin typeface="Gill Sans"/>
                <a:ea typeface="Gill Sans"/>
                <a:cs typeface="Gill Sans"/>
                <a:sym typeface="Gill Sans"/>
              </a:defRPr>
            </a:lvl3pPr>
            <a:lvl4pPr indent="-317500" lvl="3" marL="1828800" marR="0" rtl="0" algn="l">
              <a:lnSpc>
                <a:spcPct val="120000"/>
              </a:lnSpc>
              <a:spcBef>
                <a:spcPts val="500"/>
              </a:spcBef>
              <a:spcAft>
                <a:spcPts val="0"/>
              </a:spcAft>
              <a:buClr>
                <a:schemeClr val="accent1"/>
              </a:buClr>
              <a:buSzPts val="1400"/>
              <a:buFont typeface="Arial"/>
              <a:buChar char="•"/>
              <a:defRPr b="0" i="0" sz="1400" u="none" cap="none" strike="noStrike">
                <a:solidFill>
                  <a:schemeClr val="dk1"/>
                </a:solidFill>
                <a:latin typeface="Gill Sans"/>
                <a:ea typeface="Gill Sans"/>
                <a:cs typeface="Gill Sans"/>
                <a:sym typeface="Gill Sans"/>
              </a:defRPr>
            </a:lvl4pPr>
            <a:lvl5pPr indent="-304800" lvl="4" marL="22860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5pPr>
            <a:lvl6pPr indent="-304800" lvl="5" marL="27432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6pPr>
            <a:lvl7pPr indent="-304800" lvl="6" marL="32004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7pPr>
            <a:lvl8pPr indent="-304800" lvl="7" marL="36576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8pPr>
            <a:lvl9pPr indent="-304800" lvl="8" marL="41148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9pPr>
          </a:lstStyle>
          <a:p/>
        </p:txBody>
      </p:sp>
      <p:sp>
        <p:nvSpPr>
          <p:cNvPr id="14" name="Google Shape;14;p1"/>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5" name="Google Shape;15;p1"/>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6" name="Google Shape;16;p1"/>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2800" u="none" cap="none" strike="noStrike">
                <a:solidFill>
                  <a:schemeClr val="accent1"/>
                </a:solidFill>
                <a:latin typeface="Gill Sans"/>
                <a:ea typeface="Gill Sans"/>
                <a:cs typeface="Gill Sans"/>
                <a:sym typeface="Gill Sans"/>
              </a:defRPr>
            </a:lvl1pPr>
            <a:lvl2pPr indent="0" lvl="1" marL="0" marR="0" rtl="0" algn="r">
              <a:spcBef>
                <a:spcPts val="0"/>
              </a:spcBef>
              <a:buNone/>
              <a:defRPr b="0" i="0" sz="2800" u="none" cap="none" strike="noStrike">
                <a:solidFill>
                  <a:schemeClr val="accent1"/>
                </a:solidFill>
                <a:latin typeface="Gill Sans"/>
                <a:ea typeface="Gill Sans"/>
                <a:cs typeface="Gill Sans"/>
                <a:sym typeface="Gill Sans"/>
              </a:defRPr>
            </a:lvl2pPr>
            <a:lvl3pPr indent="0" lvl="2" marL="0" marR="0" rtl="0" algn="r">
              <a:spcBef>
                <a:spcPts val="0"/>
              </a:spcBef>
              <a:buNone/>
              <a:defRPr b="0" i="0" sz="2800" u="none" cap="none" strike="noStrike">
                <a:solidFill>
                  <a:schemeClr val="accent1"/>
                </a:solidFill>
                <a:latin typeface="Gill Sans"/>
                <a:ea typeface="Gill Sans"/>
                <a:cs typeface="Gill Sans"/>
                <a:sym typeface="Gill Sans"/>
              </a:defRPr>
            </a:lvl3pPr>
            <a:lvl4pPr indent="0" lvl="3" marL="0" marR="0" rtl="0" algn="r">
              <a:spcBef>
                <a:spcPts val="0"/>
              </a:spcBef>
              <a:buNone/>
              <a:defRPr b="0" i="0" sz="2800" u="none" cap="none" strike="noStrike">
                <a:solidFill>
                  <a:schemeClr val="accent1"/>
                </a:solidFill>
                <a:latin typeface="Gill Sans"/>
                <a:ea typeface="Gill Sans"/>
                <a:cs typeface="Gill Sans"/>
                <a:sym typeface="Gill Sans"/>
              </a:defRPr>
            </a:lvl4pPr>
            <a:lvl5pPr indent="0" lvl="4" marL="0" marR="0" rtl="0" algn="r">
              <a:spcBef>
                <a:spcPts val="0"/>
              </a:spcBef>
              <a:buNone/>
              <a:defRPr b="0" i="0" sz="2800" u="none" cap="none" strike="noStrike">
                <a:solidFill>
                  <a:schemeClr val="accent1"/>
                </a:solidFill>
                <a:latin typeface="Gill Sans"/>
                <a:ea typeface="Gill Sans"/>
                <a:cs typeface="Gill Sans"/>
                <a:sym typeface="Gill Sans"/>
              </a:defRPr>
            </a:lvl5pPr>
            <a:lvl6pPr indent="0" lvl="5" marL="0" marR="0" rtl="0" algn="r">
              <a:spcBef>
                <a:spcPts val="0"/>
              </a:spcBef>
              <a:buNone/>
              <a:defRPr b="0" i="0" sz="2800" u="none" cap="none" strike="noStrike">
                <a:solidFill>
                  <a:schemeClr val="accent1"/>
                </a:solidFill>
                <a:latin typeface="Gill Sans"/>
                <a:ea typeface="Gill Sans"/>
                <a:cs typeface="Gill Sans"/>
                <a:sym typeface="Gill Sans"/>
              </a:defRPr>
            </a:lvl6pPr>
            <a:lvl7pPr indent="0" lvl="6" marL="0" marR="0" rtl="0" algn="r">
              <a:spcBef>
                <a:spcPts val="0"/>
              </a:spcBef>
              <a:buNone/>
              <a:defRPr b="0" i="0" sz="2800" u="none" cap="none" strike="noStrike">
                <a:solidFill>
                  <a:schemeClr val="accent1"/>
                </a:solidFill>
                <a:latin typeface="Gill Sans"/>
                <a:ea typeface="Gill Sans"/>
                <a:cs typeface="Gill Sans"/>
                <a:sym typeface="Gill Sans"/>
              </a:defRPr>
            </a:lvl7pPr>
            <a:lvl8pPr indent="0" lvl="7" marL="0" marR="0" rtl="0" algn="r">
              <a:spcBef>
                <a:spcPts val="0"/>
              </a:spcBef>
              <a:buNone/>
              <a:defRPr b="0" i="0" sz="2800" u="none" cap="none" strike="noStrike">
                <a:solidFill>
                  <a:schemeClr val="accent1"/>
                </a:solidFill>
                <a:latin typeface="Gill Sans"/>
                <a:ea typeface="Gill Sans"/>
                <a:cs typeface="Gill Sans"/>
                <a:sym typeface="Gill Sans"/>
              </a:defRPr>
            </a:lvl8pPr>
            <a:lvl9pPr indent="0" lvl="8" marL="0" marR="0" rtl="0" algn="r">
              <a:spcBef>
                <a:spcPts val="0"/>
              </a:spcBef>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IN"/>
              <a:t>‹#›</a:t>
            </a:fld>
            <a:endParaRPr/>
          </a:p>
        </p:txBody>
      </p:sp>
      <p:cxnSp>
        <p:nvCxnSpPr>
          <p:cNvPr id="17" name="Google Shape;17;p1"/>
          <p:cNvCxnSpPr/>
          <p:nvPr/>
        </p:nvCxnSpPr>
        <p:spPr>
          <a:xfrm>
            <a:off x="0" y="6128413"/>
            <a:ext cx="12192000" cy="0"/>
          </a:xfrm>
          <a:prstGeom prst="straightConnector1">
            <a:avLst/>
          </a:prstGeom>
          <a:noFill/>
          <a:ln cap="flat" cmpd="sng" w="12700">
            <a:solidFill>
              <a:srgbClr val="000001">
                <a:alpha val="20000"/>
              </a:srgbClr>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6.png"/><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www.youtube.com/watch?v=0C37Zvy3Ubk" TargetMode="External"/><Relationship Id="rId4" Type="http://schemas.openxmlformats.org/officeDocument/2006/relationships/hyperlink" Target="https://www.youtube.com/watch?v=yi2MmOE_nKo" TargetMode="External"/><Relationship Id="rId5"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3"/>
          <p:cNvSpPr txBox="1"/>
          <p:nvPr/>
        </p:nvSpPr>
        <p:spPr>
          <a:xfrm>
            <a:off x="142240" y="186680"/>
            <a:ext cx="11887200" cy="58169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400"/>
              <a:buFont typeface="Times New Roman"/>
              <a:buNone/>
            </a:pPr>
            <a:r>
              <a:rPr b="1" i="0" lang="en-IN" sz="2400" u="none" cap="none" strike="noStrike">
                <a:solidFill>
                  <a:schemeClr val="dk1"/>
                </a:solidFill>
                <a:latin typeface="Times New Roman"/>
                <a:ea typeface="Times New Roman"/>
                <a:cs typeface="Times New Roman"/>
                <a:sym typeface="Times New Roman"/>
              </a:rPr>
              <a:t>Major Project Review – 3</a:t>
            </a:r>
            <a:endParaRPr/>
          </a:p>
          <a:p>
            <a:pPr indent="0" lvl="0" marL="0" marR="0" rtl="0" algn="ctr">
              <a:spcBef>
                <a:spcPts val="0"/>
              </a:spcBef>
              <a:spcAft>
                <a:spcPts val="0"/>
              </a:spcAft>
              <a:buClr>
                <a:schemeClr val="dk1"/>
              </a:buClr>
              <a:buSzPts val="2400"/>
              <a:buFont typeface="Gill Sans"/>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chemeClr val="dk1"/>
              </a:buClr>
              <a:buSzPts val="1800"/>
              <a:buFont typeface="Times New Roman"/>
              <a:buNone/>
            </a:pPr>
            <a:r>
              <a:rPr b="0" i="0" lang="en-IN" sz="1800" u="none" cap="none" strike="noStrike">
                <a:solidFill>
                  <a:schemeClr val="dk1"/>
                </a:solidFill>
                <a:latin typeface="Times New Roman"/>
                <a:ea typeface="Times New Roman"/>
                <a:cs typeface="Times New Roman"/>
                <a:sym typeface="Times New Roman"/>
              </a:rPr>
              <a:t>On</a:t>
            </a:r>
            <a:endParaRPr/>
          </a:p>
          <a:p>
            <a:pPr indent="0" lvl="0" marL="0" marR="0" rtl="0" algn="ctr">
              <a:spcBef>
                <a:spcPts val="0"/>
              </a:spcBef>
              <a:spcAft>
                <a:spcPts val="0"/>
              </a:spcAft>
              <a:buClr>
                <a:schemeClr val="dk1"/>
              </a:buClr>
              <a:buSzPts val="2400"/>
              <a:buFont typeface="Gill Sans"/>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chemeClr val="dk1"/>
              </a:buClr>
              <a:buSzPts val="2000"/>
              <a:buFont typeface="Times New Roman"/>
              <a:buNone/>
            </a:pPr>
            <a:r>
              <a:rPr b="1" i="0" lang="en-IN" sz="2000" u="none" cap="none" strike="noStrike">
                <a:solidFill>
                  <a:schemeClr val="dk1"/>
                </a:solidFill>
                <a:latin typeface="Times New Roman"/>
                <a:ea typeface="Times New Roman"/>
                <a:cs typeface="Times New Roman"/>
                <a:sym typeface="Times New Roman"/>
              </a:rPr>
              <a:t>Design and Analysis of Artificial Magnetic Conductor (AMC) For 5G Communications</a:t>
            </a:r>
            <a:endParaRPr/>
          </a:p>
          <a:p>
            <a:pPr indent="0" lvl="0" marL="0" marR="0" rtl="0" algn="ctr">
              <a:spcBef>
                <a:spcPts val="0"/>
              </a:spcBef>
              <a:spcAft>
                <a:spcPts val="0"/>
              </a:spcAft>
              <a:buClr>
                <a:schemeClr val="dk1"/>
              </a:buClr>
              <a:buSzPts val="1800"/>
              <a:buFont typeface="Gill Sans"/>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chemeClr val="dk1"/>
              </a:buClr>
              <a:buSzPts val="1800"/>
              <a:buFont typeface="Gill Sans"/>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chemeClr val="dk1"/>
              </a:buClr>
              <a:buSzPts val="1800"/>
              <a:buFont typeface="Times New Roman"/>
              <a:buNone/>
            </a:pPr>
            <a:r>
              <a:rPr b="0" i="0" lang="en-IN" sz="1800" u="none" cap="none" strike="noStrike">
                <a:solidFill>
                  <a:schemeClr val="dk1"/>
                </a:solidFill>
                <a:latin typeface="Times New Roman"/>
                <a:ea typeface="Times New Roman"/>
                <a:cs typeface="Times New Roman"/>
                <a:sym typeface="Times New Roman"/>
              </a:rPr>
              <a:t>By</a:t>
            </a:r>
            <a:endParaRPr/>
          </a:p>
          <a:p>
            <a:pPr indent="0" lvl="0" marL="0" marR="0" rtl="0" algn="ctr">
              <a:spcBef>
                <a:spcPts val="0"/>
              </a:spcBef>
              <a:spcAft>
                <a:spcPts val="0"/>
              </a:spcAft>
              <a:buClr>
                <a:schemeClr val="dk1"/>
              </a:buClr>
              <a:buSzPts val="2400"/>
              <a:buFont typeface="Gill Sans"/>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chemeClr val="dk1"/>
              </a:buClr>
              <a:buSzPts val="2400"/>
              <a:buFont typeface="Gill Sans"/>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chemeClr val="dk1"/>
              </a:buClr>
              <a:buSzPts val="1800"/>
              <a:buFont typeface="Times New Roman"/>
              <a:buNone/>
            </a:pPr>
            <a:r>
              <a:rPr b="1" i="0" lang="en-IN" sz="1800" u="none" cap="none" strike="noStrike">
                <a:solidFill>
                  <a:schemeClr val="dk1"/>
                </a:solidFill>
                <a:latin typeface="Times New Roman"/>
                <a:ea typeface="Times New Roman"/>
                <a:cs typeface="Times New Roman"/>
                <a:sym typeface="Times New Roman"/>
              </a:rPr>
              <a:t>SANTHOSH .M.N – RA1911004010026</a:t>
            </a:r>
            <a:endParaRPr/>
          </a:p>
          <a:p>
            <a:pPr indent="0" lvl="0" marL="0" marR="0" rtl="0" algn="ctr">
              <a:spcBef>
                <a:spcPts val="0"/>
              </a:spcBef>
              <a:spcAft>
                <a:spcPts val="0"/>
              </a:spcAft>
              <a:buClr>
                <a:schemeClr val="dk1"/>
              </a:buClr>
              <a:buSzPts val="1800"/>
              <a:buFont typeface="Times New Roman"/>
              <a:buNone/>
            </a:pPr>
            <a:r>
              <a:rPr b="1" i="0" lang="en-IN" sz="1800" u="none" cap="none" strike="noStrike">
                <a:solidFill>
                  <a:schemeClr val="dk1"/>
                </a:solidFill>
                <a:latin typeface="Times New Roman"/>
                <a:ea typeface="Times New Roman"/>
                <a:cs typeface="Times New Roman"/>
                <a:sym typeface="Times New Roman"/>
              </a:rPr>
              <a:t>ASHIK MEHIR .T – RA1911004010039</a:t>
            </a:r>
            <a:endParaRPr/>
          </a:p>
          <a:p>
            <a:pPr indent="0" lvl="0" marL="0" marR="0" rtl="0" algn="ctr">
              <a:spcBef>
                <a:spcPts val="0"/>
              </a:spcBef>
              <a:spcAft>
                <a:spcPts val="0"/>
              </a:spcAft>
              <a:buClr>
                <a:schemeClr val="dk1"/>
              </a:buClr>
              <a:buSzPts val="1800"/>
              <a:buFont typeface="Times New Roman"/>
              <a:buNone/>
            </a:pPr>
            <a:r>
              <a:rPr b="1" i="0" lang="en-IN" sz="1800" u="none" cap="none" strike="noStrike">
                <a:solidFill>
                  <a:schemeClr val="dk1"/>
                </a:solidFill>
                <a:latin typeface="Times New Roman"/>
                <a:ea typeface="Times New Roman"/>
                <a:cs typeface="Times New Roman"/>
                <a:sym typeface="Times New Roman"/>
              </a:rPr>
              <a:t>JABEZ SOLOMON .J – RA1911004010045</a:t>
            </a:r>
            <a:endParaRPr/>
          </a:p>
          <a:p>
            <a:pPr indent="0" lvl="0" marL="0" marR="0" rtl="0" algn="ctr">
              <a:spcBef>
                <a:spcPts val="0"/>
              </a:spcBef>
              <a:spcAft>
                <a:spcPts val="0"/>
              </a:spcAft>
              <a:buClr>
                <a:schemeClr val="dk1"/>
              </a:buClr>
              <a:buSzPts val="1800"/>
              <a:buFont typeface="Gill Sans"/>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chemeClr val="dk1"/>
              </a:buClr>
              <a:buSzPts val="1800"/>
              <a:buFont typeface="Gill Sans"/>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chemeClr val="dk1"/>
              </a:buClr>
              <a:buSzPts val="1800"/>
              <a:buFont typeface="Times New Roman"/>
              <a:buNone/>
            </a:pPr>
            <a:r>
              <a:rPr b="1" i="0" lang="en-IN" sz="1800" u="none" cap="none" strike="noStrike">
                <a:solidFill>
                  <a:schemeClr val="dk1"/>
                </a:solidFill>
                <a:latin typeface="Times New Roman"/>
                <a:ea typeface="Times New Roman"/>
                <a:cs typeface="Times New Roman"/>
                <a:sym typeface="Times New Roman"/>
              </a:rPr>
              <a:t>Under the Guidance of</a:t>
            </a:r>
            <a:endParaRPr/>
          </a:p>
          <a:p>
            <a:pPr indent="0" lvl="0" marL="0" marR="0" rtl="0" algn="ctr">
              <a:spcBef>
                <a:spcPts val="0"/>
              </a:spcBef>
              <a:spcAft>
                <a:spcPts val="0"/>
              </a:spcAft>
              <a:buClr>
                <a:schemeClr val="dk1"/>
              </a:buClr>
              <a:buSzPts val="1600"/>
              <a:buFont typeface="Gill Sans"/>
              <a:buNone/>
            </a:pPr>
            <a:r>
              <a:t/>
            </a:r>
            <a:endParaRPr b="1" i="0" sz="1600" u="none" cap="none" strike="noStrike">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chemeClr val="dk1"/>
              </a:buClr>
              <a:buSzPts val="1800"/>
              <a:buFont typeface="Times New Roman"/>
              <a:buNone/>
            </a:pPr>
            <a:r>
              <a:rPr b="0" i="0" lang="en-IN" sz="1800" u="none" cap="none" strike="noStrike">
                <a:solidFill>
                  <a:schemeClr val="dk1"/>
                </a:solidFill>
                <a:latin typeface="Times New Roman"/>
                <a:ea typeface="Times New Roman"/>
                <a:cs typeface="Times New Roman"/>
                <a:sym typeface="Times New Roman"/>
              </a:rPr>
              <a:t>Dr. S. Bashyam</a:t>
            </a:r>
            <a:endParaRPr b="0" i="0" sz="1800" u="none" cap="none" strike="noStrike">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chemeClr val="dk1"/>
              </a:buClr>
              <a:buSzPts val="1800"/>
              <a:buFont typeface="Times New Roman"/>
              <a:buNone/>
            </a:pPr>
            <a:r>
              <a:rPr b="0" i="0" lang="en-IN" sz="1800" u="none" cap="none" strike="noStrike">
                <a:solidFill>
                  <a:schemeClr val="dk1"/>
                </a:solidFill>
                <a:latin typeface="Times New Roman"/>
                <a:ea typeface="Times New Roman"/>
                <a:cs typeface="Times New Roman"/>
                <a:sym typeface="Times New Roman"/>
              </a:rPr>
              <a:t>Assistant Professor, Department of ECE</a:t>
            </a:r>
            <a:endParaRPr/>
          </a:p>
        </p:txBody>
      </p:sp>
      <p:pic>
        <p:nvPicPr>
          <p:cNvPr id="105" name="Google Shape;105;p13"/>
          <p:cNvPicPr preferRelativeResize="0"/>
          <p:nvPr/>
        </p:nvPicPr>
        <p:blipFill rotWithShape="1">
          <a:blip r:embed="rId3">
            <a:alphaModFix/>
          </a:blip>
          <a:srcRect b="0" l="0" r="0" t="0"/>
          <a:stretch/>
        </p:blipFill>
        <p:spPr>
          <a:xfrm>
            <a:off x="10107168" y="0"/>
            <a:ext cx="2084832" cy="1158240"/>
          </a:xfrm>
          <a:prstGeom prst="rect">
            <a:avLst/>
          </a:prstGeom>
          <a:noFill/>
          <a:ln>
            <a:noFill/>
          </a:ln>
        </p:spPr>
      </p:pic>
      <p:sp>
        <p:nvSpPr>
          <p:cNvPr id="106" name="Google Shape;106;p13"/>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4"/>
          <p:cNvSpPr txBox="1"/>
          <p:nvPr>
            <p:ph type="title"/>
          </p:nvPr>
        </p:nvSpPr>
        <p:spPr>
          <a:xfrm>
            <a:off x="1449217" y="804889"/>
            <a:ext cx="9605635" cy="105930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INDEX</a:t>
            </a:r>
            <a:endParaRPr b="1" sz="2800">
              <a:latin typeface="Times New Roman"/>
              <a:ea typeface="Times New Roman"/>
              <a:cs typeface="Times New Roman"/>
              <a:sym typeface="Times New Roman"/>
            </a:endParaRPr>
          </a:p>
        </p:txBody>
      </p:sp>
      <p:sp>
        <p:nvSpPr>
          <p:cNvPr id="112" name="Google Shape;112;p14"/>
          <p:cNvSpPr txBox="1"/>
          <p:nvPr>
            <p:ph idx="1" type="body"/>
          </p:nvPr>
        </p:nvSpPr>
        <p:spPr>
          <a:xfrm>
            <a:off x="1447331" y="2010878"/>
            <a:ext cx="4645152" cy="404223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Font typeface="Noto Sans Symbols"/>
              <a:buChar char="❑"/>
            </a:pPr>
            <a:r>
              <a:rPr lang="en-IN">
                <a:latin typeface="Times New Roman"/>
                <a:ea typeface="Times New Roman"/>
                <a:cs typeface="Times New Roman"/>
                <a:sym typeface="Times New Roman"/>
              </a:rPr>
              <a:t>ABSTRACT</a:t>
            </a:r>
            <a:endParaRPr/>
          </a:p>
          <a:p>
            <a:pPr indent="-228600" lvl="0" marL="228600" rtl="0" algn="l">
              <a:lnSpc>
                <a:spcPct val="120000"/>
              </a:lnSpc>
              <a:spcBef>
                <a:spcPts val="1000"/>
              </a:spcBef>
              <a:spcAft>
                <a:spcPts val="0"/>
              </a:spcAft>
              <a:buSzPts val="2000"/>
              <a:buFont typeface="Noto Sans Symbols"/>
              <a:buChar char="❑"/>
            </a:pPr>
            <a:r>
              <a:rPr lang="en-IN">
                <a:latin typeface="Times New Roman"/>
                <a:ea typeface="Times New Roman"/>
                <a:cs typeface="Times New Roman"/>
                <a:sym typeface="Times New Roman"/>
              </a:rPr>
              <a:t>OBJECTIVE</a:t>
            </a:r>
            <a:endParaRPr/>
          </a:p>
          <a:p>
            <a:pPr indent="-228600" lvl="0" marL="228600" rtl="0" algn="l">
              <a:lnSpc>
                <a:spcPct val="120000"/>
              </a:lnSpc>
              <a:spcBef>
                <a:spcPts val="1000"/>
              </a:spcBef>
              <a:spcAft>
                <a:spcPts val="0"/>
              </a:spcAft>
              <a:buSzPts val="2000"/>
              <a:buFont typeface="Noto Sans Symbols"/>
              <a:buChar char="❑"/>
            </a:pPr>
            <a:r>
              <a:rPr lang="en-IN">
                <a:latin typeface="Times New Roman"/>
                <a:ea typeface="Times New Roman"/>
                <a:cs typeface="Times New Roman"/>
                <a:sym typeface="Times New Roman"/>
              </a:rPr>
              <a:t>INTRODUCTION</a:t>
            </a:r>
            <a:endParaRPr/>
          </a:p>
          <a:p>
            <a:pPr indent="-228600" lvl="0" marL="228600" rtl="0" algn="l">
              <a:lnSpc>
                <a:spcPct val="120000"/>
              </a:lnSpc>
              <a:spcBef>
                <a:spcPts val="1000"/>
              </a:spcBef>
              <a:spcAft>
                <a:spcPts val="0"/>
              </a:spcAft>
              <a:buSzPts val="2000"/>
              <a:buFont typeface="Noto Sans Symbols"/>
              <a:buChar char="❑"/>
            </a:pPr>
            <a:r>
              <a:rPr lang="en-IN">
                <a:latin typeface="Times New Roman"/>
                <a:ea typeface="Times New Roman"/>
                <a:cs typeface="Times New Roman"/>
                <a:sym typeface="Times New Roman"/>
              </a:rPr>
              <a:t>PROBLEM STATEMENT</a:t>
            </a:r>
            <a:endParaRPr/>
          </a:p>
          <a:p>
            <a:pPr indent="-228600" lvl="0" marL="228600" rtl="0" algn="l">
              <a:lnSpc>
                <a:spcPct val="120000"/>
              </a:lnSpc>
              <a:spcBef>
                <a:spcPts val="1000"/>
              </a:spcBef>
              <a:spcAft>
                <a:spcPts val="0"/>
              </a:spcAft>
              <a:buSzPts val="2000"/>
              <a:buFont typeface="Noto Sans Symbols"/>
              <a:buChar char="❑"/>
            </a:pPr>
            <a:r>
              <a:rPr lang="en-IN">
                <a:latin typeface="Times New Roman"/>
                <a:ea typeface="Times New Roman"/>
                <a:cs typeface="Times New Roman"/>
                <a:sym typeface="Times New Roman"/>
              </a:rPr>
              <a:t>LITERATURE SURVEY</a:t>
            </a:r>
            <a:endParaRPr/>
          </a:p>
          <a:p>
            <a:pPr indent="-228600" lvl="0" marL="228600" rtl="0" algn="l">
              <a:lnSpc>
                <a:spcPct val="120000"/>
              </a:lnSpc>
              <a:spcBef>
                <a:spcPts val="1000"/>
              </a:spcBef>
              <a:spcAft>
                <a:spcPts val="0"/>
              </a:spcAft>
              <a:buSzPts val="2000"/>
              <a:buFont typeface="Noto Sans Symbols"/>
              <a:buChar char="❑"/>
            </a:pPr>
            <a:r>
              <a:rPr lang="en-IN">
                <a:latin typeface="Times New Roman"/>
                <a:ea typeface="Times New Roman"/>
                <a:cs typeface="Times New Roman"/>
                <a:sym typeface="Times New Roman"/>
              </a:rPr>
              <a:t>NOVELTY</a:t>
            </a:r>
            <a:endParaRPr/>
          </a:p>
          <a:p>
            <a:pPr indent="-228600" lvl="0" marL="228600" rtl="0" algn="l">
              <a:lnSpc>
                <a:spcPct val="120000"/>
              </a:lnSpc>
              <a:spcBef>
                <a:spcPts val="1000"/>
              </a:spcBef>
              <a:spcAft>
                <a:spcPts val="0"/>
              </a:spcAft>
              <a:buSzPts val="2000"/>
              <a:buFont typeface="Noto Sans Symbols"/>
              <a:buChar char="❑"/>
            </a:pPr>
            <a:r>
              <a:rPr lang="en-IN">
                <a:latin typeface="Times New Roman"/>
                <a:ea typeface="Times New Roman"/>
                <a:cs typeface="Times New Roman"/>
                <a:sym typeface="Times New Roman"/>
              </a:rPr>
              <a:t>PROPOSED STRUCTURE</a:t>
            </a:r>
            <a:endParaRPr/>
          </a:p>
          <a:p>
            <a:pPr indent="-228600" lvl="0" marL="228600" rtl="0" algn="l">
              <a:lnSpc>
                <a:spcPct val="120000"/>
              </a:lnSpc>
              <a:spcBef>
                <a:spcPts val="1000"/>
              </a:spcBef>
              <a:spcAft>
                <a:spcPts val="0"/>
              </a:spcAft>
              <a:buSzPts val="2000"/>
              <a:buFont typeface="Noto Sans Symbols"/>
              <a:buChar char="❑"/>
            </a:pPr>
            <a:r>
              <a:rPr lang="en-IN">
                <a:latin typeface="Times New Roman"/>
                <a:ea typeface="Times New Roman"/>
                <a:cs typeface="Times New Roman"/>
                <a:sym typeface="Times New Roman"/>
              </a:rPr>
              <a:t>METHODOLOGY</a:t>
            </a:r>
            <a:endParaRPr/>
          </a:p>
        </p:txBody>
      </p:sp>
      <p:sp>
        <p:nvSpPr>
          <p:cNvPr id="113" name="Google Shape;113;p14"/>
          <p:cNvSpPr txBox="1"/>
          <p:nvPr>
            <p:ph idx="2" type="body"/>
          </p:nvPr>
        </p:nvSpPr>
        <p:spPr>
          <a:xfrm>
            <a:off x="6413771" y="2017343"/>
            <a:ext cx="4645152" cy="4035768"/>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Font typeface="Noto Sans Symbols"/>
              <a:buChar char="❑"/>
            </a:pPr>
            <a:r>
              <a:rPr lang="en-IN">
                <a:latin typeface="Times New Roman"/>
                <a:ea typeface="Times New Roman"/>
                <a:cs typeface="Times New Roman"/>
                <a:sym typeface="Times New Roman"/>
              </a:rPr>
              <a:t>FLOWCHART / ALGORITHM</a:t>
            </a:r>
            <a:endParaRPr/>
          </a:p>
          <a:p>
            <a:pPr indent="-228600" lvl="0" marL="228600" rtl="0" algn="l">
              <a:lnSpc>
                <a:spcPct val="120000"/>
              </a:lnSpc>
              <a:spcBef>
                <a:spcPts val="1000"/>
              </a:spcBef>
              <a:spcAft>
                <a:spcPts val="0"/>
              </a:spcAft>
              <a:buSzPts val="2000"/>
              <a:buFont typeface="Noto Sans Symbols"/>
              <a:buChar char="❑"/>
            </a:pPr>
            <a:r>
              <a:rPr lang="en-IN">
                <a:latin typeface="Times New Roman"/>
                <a:ea typeface="Times New Roman"/>
                <a:cs typeface="Times New Roman"/>
                <a:sym typeface="Times New Roman"/>
              </a:rPr>
              <a:t>RESULTS</a:t>
            </a:r>
            <a:endParaRPr/>
          </a:p>
          <a:p>
            <a:pPr indent="-228600" lvl="0" marL="228600" rtl="0" algn="l">
              <a:lnSpc>
                <a:spcPct val="120000"/>
              </a:lnSpc>
              <a:spcBef>
                <a:spcPts val="1000"/>
              </a:spcBef>
              <a:spcAft>
                <a:spcPts val="0"/>
              </a:spcAft>
              <a:buSzPts val="2000"/>
              <a:buFont typeface="Noto Sans Symbols"/>
              <a:buChar char="❑"/>
            </a:pPr>
            <a:r>
              <a:rPr lang="en-IN">
                <a:latin typeface="Times New Roman"/>
                <a:ea typeface="Times New Roman"/>
                <a:cs typeface="Times New Roman"/>
                <a:sym typeface="Times New Roman"/>
              </a:rPr>
              <a:t>PUBLICATION STATUS</a:t>
            </a:r>
            <a:endParaRPr/>
          </a:p>
          <a:p>
            <a:pPr indent="-228600" lvl="0" marL="228600" rtl="0" algn="l">
              <a:lnSpc>
                <a:spcPct val="120000"/>
              </a:lnSpc>
              <a:spcBef>
                <a:spcPts val="1000"/>
              </a:spcBef>
              <a:spcAft>
                <a:spcPts val="0"/>
              </a:spcAft>
              <a:buSzPts val="2000"/>
              <a:buFont typeface="Noto Sans Symbols"/>
              <a:buChar char="❑"/>
            </a:pPr>
            <a:r>
              <a:rPr lang="en-IN">
                <a:latin typeface="Times New Roman"/>
                <a:ea typeface="Times New Roman"/>
                <a:cs typeface="Times New Roman"/>
                <a:sym typeface="Times New Roman"/>
              </a:rPr>
              <a:t>CONCLUSIONS</a:t>
            </a:r>
            <a:endParaRPr/>
          </a:p>
          <a:p>
            <a:pPr indent="-228600" lvl="0" marL="228600" rtl="0" algn="l">
              <a:lnSpc>
                <a:spcPct val="120000"/>
              </a:lnSpc>
              <a:spcBef>
                <a:spcPts val="1000"/>
              </a:spcBef>
              <a:spcAft>
                <a:spcPts val="0"/>
              </a:spcAft>
              <a:buSzPts val="2000"/>
              <a:buFont typeface="Noto Sans Symbols"/>
              <a:buChar char="❑"/>
            </a:pPr>
            <a:r>
              <a:rPr lang="en-IN">
                <a:latin typeface="Times New Roman"/>
                <a:ea typeface="Times New Roman"/>
                <a:cs typeface="Times New Roman"/>
                <a:sym typeface="Times New Roman"/>
              </a:rPr>
              <a:t>REFERENCES</a:t>
            </a:r>
            <a:endParaRPr/>
          </a:p>
          <a:p>
            <a:pPr indent="-101600" lvl="0" marL="228600" rtl="0" algn="l">
              <a:lnSpc>
                <a:spcPct val="120000"/>
              </a:lnSpc>
              <a:spcBef>
                <a:spcPts val="1000"/>
              </a:spcBef>
              <a:spcAft>
                <a:spcPts val="0"/>
              </a:spcAft>
              <a:buSzPts val="2000"/>
              <a:buFont typeface="Noto Sans Symbols"/>
              <a:buNone/>
            </a:pPr>
            <a:r>
              <a:t/>
            </a:r>
            <a:endParaRPr>
              <a:latin typeface="Times New Roman"/>
              <a:ea typeface="Times New Roman"/>
              <a:cs typeface="Times New Roman"/>
              <a:sym typeface="Times New Roman"/>
            </a:endParaRPr>
          </a:p>
        </p:txBody>
      </p:sp>
      <p:sp>
        <p:nvSpPr>
          <p:cNvPr id="114" name="Google Shape;114;p14"/>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115" name="Google Shape;115;p14"/>
          <p:cNvPicPr preferRelativeResize="0"/>
          <p:nvPr/>
        </p:nvPicPr>
        <p:blipFill rotWithShape="1">
          <a:blip r:embed="rId3">
            <a:alphaModFix/>
          </a:blip>
          <a:srcRect b="0" l="0" r="0" t="0"/>
          <a:stretch/>
        </p:blipFill>
        <p:spPr>
          <a:xfrm>
            <a:off x="10107168" y="0"/>
            <a:ext cx="2084832" cy="115824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ABSTRACT</a:t>
            </a:r>
            <a:endParaRPr b="1" sz="2800">
              <a:latin typeface="Times New Roman"/>
              <a:ea typeface="Times New Roman"/>
              <a:cs typeface="Times New Roman"/>
              <a:sym typeface="Times New Roman"/>
            </a:endParaRPr>
          </a:p>
        </p:txBody>
      </p:sp>
      <p:sp>
        <p:nvSpPr>
          <p:cNvPr id="121" name="Google Shape;121;p15"/>
          <p:cNvSpPr txBox="1"/>
          <p:nvPr>
            <p:ph idx="1" type="body"/>
          </p:nvPr>
        </p:nvSpPr>
        <p:spPr>
          <a:xfrm>
            <a:off x="1451579" y="2015732"/>
            <a:ext cx="9603275" cy="4037749"/>
          </a:xfrm>
          <a:prstGeom prst="rect">
            <a:avLst/>
          </a:prstGeom>
          <a:noFill/>
          <a:ln>
            <a:noFill/>
          </a:ln>
        </p:spPr>
        <p:txBody>
          <a:bodyPr anchorCtr="0" anchor="t" bIns="45700" lIns="91425" spcFirstLastPara="1" rIns="91425" wrap="square" tIns="45700">
            <a:normAutofit fontScale="92500"/>
          </a:bodyPr>
          <a:lstStyle/>
          <a:p>
            <a:pPr indent="0" lvl="0" marL="0" rtl="0" algn="just">
              <a:lnSpc>
                <a:spcPct val="120000"/>
              </a:lnSpc>
              <a:spcBef>
                <a:spcPts val="0"/>
              </a:spcBef>
              <a:spcAft>
                <a:spcPts val="0"/>
              </a:spcAft>
              <a:buSzPct val="100000"/>
              <a:buNone/>
            </a:pPr>
            <a:r>
              <a:rPr b="1" lang="en-IN" sz="2000">
                <a:latin typeface="Times New Roman"/>
                <a:ea typeface="Times New Roman"/>
                <a:cs typeface="Times New Roman"/>
                <a:sym typeface="Times New Roman"/>
              </a:rPr>
              <a:t>The Artificial Magnetic Conductor (AMC) is an equivalent magnetic conductor with a limited bandwidth and it works as an ideal equivalent magnetic conductor just at a fixed frequency. The geometry of the AMC unit cell is a square patch with four rectangular slots and a square ring. The AMC is printed on an FR4 substrate with a thickness of 3.2 mm, in the dimension of 9.6mm x 9.6mm x 3.2mm and with a relative permittivity of 4.4 and loss tangent of 0.003. The meta-surface is designed based on the split-ring resonator copper strip combined unit cells forming an array of the artificial magnetic conductor (AMC). The bottom surface of the substrate is the metal ground. In order to achieve single resonance, a square ring with copper strips is added, and consequently an band centered at a resonant frequency of 3.5 GHz can be achieved by the final single-band AMC.</a:t>
            </a:r>
            <a:r>
              <a:rPr lang="en-IN" sz="2000">
                <a:latin typeface="Times New Roman"/>
                <a:ea typeface="Times New Roman"/>
                <a:cs typeface="Times New Roman"/>
                <a:sym typeface="Times New Roman"/>
              </a:rPr>
              <a:t> </a:t>
            </a:r>
            <a:r>
              <a:rPr b="1" lang="en-IN" sz="2000">
                <a:latin typeface="Times New Roman"/>
                <a:ea typeface="Times New Roman"/>
                <a:cs typeface="Times New Roman"/>
                <a:sym typeface="Times New Roman"/>
              </a:rPr>
              <a:t>The proposed design is simulated by ANSYS HFSS electronic desktop 2016.1.</a:t>
            </a:r>
            <a:endParaRPr sz="2000">
              <a:latin typeface="Times New Roman"/>
              <a:ea typeface="Times New Roman"/>
              <a:cs typeface="Times New Roman"/>
              <a:sym typeface="Times New Roman"/>
            </a:endParaRPr>
          </a:p>
          <a:p>
            <a:pPr indent="0" lvl="0" marL="0" rtl="0" algn="l">
              <a:lnSpc>
                <a:spcPct val="120000"/>
              </a:lnSpc>
              <a:spcBef>
                <a:spcPts val="1000"/>
              </a:spcBef>
              <a:spcAft>
                <a:spcPts val="0"/>
              </a:spcAft>
              <a:buSzPct val="100000"/>
              <a:buNone/>
            </a:pPr>
            <a:r>
              <a:t/>
            </a:r>
            <a:endParaRPr>
              <a:latin typeface="Times New Roman"/>
              <a:ea typeface="Times New Roman"/>
              <a:cs typeface="Times New Roman"/>
              <a:sym typeface="Times New Roman"/>
            </a:endParaRPr>
          </a:p>
        </p:txBody>
      </p:sp>
      <p:sp>
        <p:nvSpPr>
          <p:cNvPr id="122" name="Google Shape;122;p15"/>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123" name="Google Shape;123;p15"/>
          <p:cNvPicPr preferRelativeResize="0"/>
          <p:nvPr/>
        </p:nvPicPr>
        <p:blipFill rotWithShape="1">
          <a:blip r:embed="rId3">
            <a:alphaModFix/>
          </a:blip>
          <a:srcRect b="0" l="0" r="0" t="0"/>
          <a:stretch/>
        </p:blipFill>
        <p:spPr>
          <a:xfrm>
            <a:off x="10107168" y="0"/>
            <a:ext cx="2084832" cy="115824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6"/>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OBJECTIVE</a:t>
            </a:r>
            <a:endParaRPr b="1" sz="2800">
              <a:latin typeface="Times New Roman"/>
              <a:ea typeface="Times New Roman"/>
              <a:cs typeface="Times New Roman"/>
              <a:sym typeface="Times New Roman"/>
            </a:endParaRPr>
          </a:p>
        </p:txBody>
      </p:sp>
      <p:sp>
        <p:nvSpPr>
          <p:cNvPr id="129" name="Google Shape;129;p16"/>
          <p:cNvSpPr txBox="1"/>
          <p:nvPr>
            <p:ph idx="1" type="body"/>
          </p:nvPr>
        </p:nvSpPr>
        <p:spPr>
          <a:xfrm>
            <a:off x="1451579" y="2015732"/>
            <a:ext cx="9603275" cy="4037749"/>
          </a:xfrm>
          <a:prstGeom prst="rect">
            <a:avLst/>
          </a:prstGeom>
          <a:noFill/>
          <a:ln>
            <a:noFill/>
          </a:ln>
        </p:spPr>
        <p:txBody>
          <a:bodyPr anchorCtr="0" anchor="t" bIns="45700" lIns="91425" spcFirstLastPara="1" rIns="91425" wrap="square" tIns="45700">
            <a:normAutofit/>
          </a:bodyPr>
          <a:lstStyle/>
          <a:p>
            <a:pPr indent="-228600" lvl="0" marL="228600" rtl="0" algn="just">
              <a:lnSpc>
                <a:spcPct val="120000"/>
              </a:lnSpc>
              <a:spcBef>
                <a:spcPts val="0"/>
              </a:spcBef>
              <a:spcAft>
                <a:spcPts val="0"/>
              </a:spcAft>
              <a:buSzPts val="2000"/>
              <a:buFont typeface="Noto Sans Symbols"/>
              <a:buChar char="⮚"/>
            </a:pPr>
            <a:r>
              <a:rPr lang="en-IN">
                <a:latin typeface="Times New Roman"/>
                <a:ea typeface="Times New Roman"/>
                <a:cs typeface="Times New Roman"/>
                <a:sym typeface="Times New Roman"/>
              </a:rPr>
              <a:t>To design a compact </a:t>
            </a:r>
            <a:r>
              <a:rPr lang="en-IN" sz="2000">
                <a:latin typeface="Times New Roman"/>
                <a:ea typeface="Times New Roman"/>
                <a:cs typeface="Times New Roman"/>
                <a:sym typeface="Times New Roman"/>
              </a:rPr>
              <a:t>Artificial Magnetic Conductor (AMC) unit cell </a:t>
            </a:r>
            <a:r>
              <a:rPr lang="en-IN">
                <a:latin typeface="Times New Roman"/>
                <a:ea typeface="Times New Roman"/>
                <a:cs typeface="Times New Roman"/>
                <a:sym typeface="Times New Roman"/>
              </a:rPr>
              <a:t>for 5G communication band (n78 band – 3.3 – 3.8 GHz).</a:t>
            </a:r>
            <a:endParaRPr sz="2000">
              <a:latin typeface="Times New Roman"/>
              <a:ea typeface="Times New Roman"/>
              <a:cs typeface="Times New Roman"/>
              <a:sym typeface="Times New Roman"/>
            </a:endParaRPr>
          </a:p>
          <a:p>
            <a:pPr indent="-228600" lvl="0" marL="228600" rtl="0" algn="just">
              <a:lnSpc>
                <a:spcPct val="120000"/>
              </a:lnSpc>
              <a:spcBef>
                <a:spcPts val="1000"/>
              </a:spcBef>
              <a:spcAft>
                <a:spcPts val="0"/>
              </a:spcAft>
              <a:buSzPts val="2000"/>
              <a:buFont typeface="Noto Sans Symbols"/>
              <a:buChar char="⮚"/>
            </a:pPr>
            <a:r>
              <a:rPr lang="en-IN" sz="2000">
                <a:latin typeface="Times New Roman"/>
                <a:ea typeface="Times New Roman"/>
                <a:cs typeface="Times New Roman"/>
                <a:sym typeface="Times New Roman"/>
              </a:rPr>
              <a:t>To </a:t>
            </a:r>
            <a:r>
              <a:rPr lang="en-IN">
                <a:latin typeface="Times New Roman"/>
                <a:ea typeface="Times New Roman"/>
                <a:cs typeface="Times New Roman"/>
                <a:sym typeface="Times New Roman"/>
              </a:rPr>
              <a:t>design a compact monopole antenna for 5G communication.</a:t>
            </a:r>
            <a:endParaRPr sz="2000">
              <a:latin typeface="Times New Roman"/>
              <a:ea typeface="Times New Roman"/>
              <a:cs typeface="Times New Roman"/>
              <a:sym typeface="Times New Roman"/>
            </a:endParaRPr>
          </a:p>
          <a:p>
            <a:pPr indent="-228600" lvl="0" marL="228600" rtl="0" algn="just">
              <a:lnSpc>
                <a:spcPct val="120000"/>
              </a:lnSpc>
              <a:spcBef>
                <a:spcPts val="1000"/>
              </a:spcBef>
              <a:spcAft>
                <a:spcPts val="0"/>
              </a:spcAft>
              <a:buSzPts val="2000"/>
              <a:buFont typeface="Noto Sans Symbols"/>
              <a:buChar char="⮚"/>
            </a:pPr>
            <a:r>
              <a:rPr lang="en-IN" sz="2000">
                <a:latin typeface="Times New Roman"/>
                <a:ea typeface="Times New Roman"/>
                <a:cs typeface="Times New Roman"/>
                <a:sym typeface="Times New Roman"/>
              </a:rPr>
              <a:t>To enhance the antenna gain performance using 3 x 3 AMC patch.</a:t>
            </a:r>
            <a:endParaRPr/>
          </a:p>
          <a:p>
            <a:pPr indent="-101600" lvl="0" marL="228600" rtl="0" algn="l">
              <a:lnSpc>
                <a:spcPct val="120000"/>
              </a:lnSpc>
              <a:spcBef>
                <a:spcPts val="1000"/>
              </a:spcBef>
              <a:spcAft>
                <a:spcPts val="0"/>
              </a:spcAft>
              <a:buSzPts val="2000"/>
              <a:buFont typeface="Noto Sans Symbols"/>
              <a:buNone/>
            </a:pPr>
            <a:r>
              <a:t/>
            </a:r>
            <a:endParaRPr>
              <a:latin typeface="Times New Roman"/>
              <a:ea typeface="Times New Roman"/>
              <a:cs typeface="Times New Roman"/>
              <a:sym typeface="Times New Roman"/>
            </a:endParaRPr>
          </a:p>
        </p:txBody>
      </p:sp>
      <p:sp>
        <p:nvSpPr>
          <p:cNvPr id="130" name="Google Shape;130;p16"/>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131" name="Google Shape;131;p16"/>
          <p:cNvPicPr preferRelativeResize="0"/>
          <p:nvPr/>
        </p:nvPicPr>
        <p:blipFill rotWithShape="1">
          <a:blip r:embed="rId3">
            <a:alphaModFix/>
          </a:blip>
          <a:srcRect b="0" l="0" r="0" t="0"/>
          <a:stretch/>
        </p:blipFill>
        <p:spPr>
          <a:xfrm>
            <a:off x="10107168" y="0"/>
            <a:ext cx="2084832" cy="115824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INTRODUCTION</a:t>
            </a:r>
            <a:endParaRPr/>
          </a:p>
        </p:txBody>
      </p:sp>
      <p:sp>
        <p:nvSpPr>
          <p:cNvPr id="137" name="Google Shape;137;p17"/>
          <p:cNvSpPr txBox="1"/>
          <p:nvPr>
            <p:ph idx="1" type="body"/>
          </p:nvPr>
        </p:nvSpPr>
        <p:spPr>
          <a:xfrm>
            <a:off x="1451579" y="2015733"/>
            <a:ext cx="9603276" cy="3948188"/>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Font typeface="Noto Sans Symbols"/>
              <a:buChar char="⮚"/>
            </a:pPr>
            <a:r>
              <a:rPr lang="en-IN" sz="2000">
                <a:latin typeface="Times New Roman"/>
                <a:ea typeface="Times New Roman"/>
                <a:cs typeface="Times New Roman"/>
                <a:sym typeface="Times New Roman"/>
              </a:rPr>
              <a:t>Designing of an Artificial Magnetic Conductor (AMC) which is used to prevent the interruption of 5G frequencies in the Flight’s Altimeter. </a:t>
            </a:r>
            <a:endParaRPr/>
          </a:p>
          <a:p>
            <a:pPr indent="-228600" lvl="0" marL="228600" rtl="0" algn="l">
              <a:lnSpc>
                <a:spcPct val="120000"/>
              </a:lnSpc>
              <a:spcBef>
                <a:spcPts val="1000"/>
              </a:spcBef>
              <a:spcAft>
                <a:spcPts val="0"/>
              </a:spcAft>
              <a:buSzPts val="2000"/>
              <a:buFont typeface="Noto Sans Symbols"/>
              <a:buChar char="⮚"/>
            </a:pPr>
            <a:r>
              <a:rPr lang="en-IN" sz="2000">
                <a:latin typeface="Times New Roman"/>
                <a:ea typeface="Times New Roman"/>
                <a:cs typeface="Times New Roman"/>
                <a:sym typeface="Times New Roman"/>
              </a:rPr>
              <a:t>AMCs are engineered structures that can be optimized to provide specific electromagnetic responses over a wide range of frequencies.</a:t>
            </a:r>
            <a:endParaRPr/>
          </a:p>
          <a:p>
            <a:pPr indent="-228600" lvl="0" marL="228600" rtl="0" algn="l">
              <a:lnSpc>
                <a:spcPct val="120000"/>
              </a:lnSpc>
              <a:spcBef>
                <a:spcPts val="1000"/>
              </a:spcBef>
              <a:spcAft>
                <a:spcPts val="0"/>
              </a:spcAft>
              <a:buSzPts val="2000"/>
              <a:buFont typeface="Noto Sans Symbols"/>
              <a:buChar char="⮚"/>
            </a:pPr>
            <a:r>
              <a:rPr lang="en-IN" sz="2000">
                <a:latin typeface="Times New Roman"/>
                <a:ea typeface="Times New Roman"/>
                <a:cs typeface="Times New Roman"/>
                <a:sym typeface="Times New Roman"/>
              </a:rPr>
              <a:t>One of the key features of AMCs is their ability to suppress or control electromagnetic waves over a wide range of frequencies. This makes them suitable for a variety of applications, including wireless communication systems, electromagnetic interference (EMI) shielding, and antenna design.</a:t>
            </a:r>
            <a:endParaRPr/>
          </a:p>
        </p:txBody>
      </p:sp>
      <p:sp>
        <p:nvSpPr>
          <p:cNvPr id="138" name="Google Shape;138;p17"/>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139" name="Google Shape;139;p17"/>
          <p:cNvPicPr preferRelativeResize="0"/>
          <p:nvPr/>
        </p:nvPicPr>
        <p:blipFill rotWithShape="1">
          <a:blip r:embed="rId3">
            <a:alphaModFix/>
          </a:blip>
          <a:srcRect b="0" l="0" r="0" t="0"/>
          <a:stretch/>
        </p:blipFill>
        <p:spPr>
          <a:xfrm>
            <a:off x="10107168" y="0"/>
            <a:ext cx="2084832" cy="115824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PROBLEM STATEMENT</a:t>
            </a:r>
            <a:br>
              <a:rPr b="1" lang="en-IN" sz="2800">
                <a:latin typeface="Times New Roman"/>
                <a:ea typeface="Times New Roman"/>
                <a:cs typeface="Times New Roman"/>
                <a:sym typeface="Times New Roman"/>
              </a:rPr>
            </a:br>
            <a:endParaRPr b="1" sz="2800">
              <a:latin typeface="Times New Roman"/>
              <a:ea typeface="Times New Roman"/>
              <a:cs typeface="Times New Roman"/>
              <a:sym typeface="Times New Roman"/>
            </a:endParaRPr>
          </a:p>
        </p:txBody>
      </p:sp>
      <p:sp>
        <p:nvSpPr>
          <p:cNvPr id="145" name="Google Shape;145;p18"/>
          <p:cNvSpPr txBox="1"/>
          <p:nvPr>
            <p:ph idx="1" type="body"/>
          </p:nvPr>
        </p:nvSpPr>
        <p:spPr>
          <a:xfrm>
            <a:off x="1451579" y="2015732"/>
            <a:ext cx="9603275" cy="4037749"/>
          </a:xfrm>
          <a:prstGeom prst="rect">
            <a:avLst/>
          </a:prstGeom>
          <a:noFill/>
          <a:ln>
            <a:noFill/>
          </a:ln>
        </p:spPr>
        <p:txBody>
          <a:bodyPr anchorCtr="0" anchor="t" bIns="45700" lIns="91425" spcFirstLastPara="1" rIns="91425" wrap="square" tIns="45700">
            <a:normAutofit/>
          </a:bodyPr>
          <a:lstStyle/>
          <a:p>
            <a:pPr indent="-228600" lvl="0" marL="228600" rtl="0" algn="just">
              <a:lnSpc>
                <a:spcPct val="120000"/>
              </a:lnSpc>
              <a:spcBef>
                <a:spcPts val="0"/>
              </a:spcBef>
              <a:spcAft>
                <a:spcPts val="0"/>
              </a:spcAft>
              <a:buSzPts val="2000"/>
              <a:buFont typeface="Noto Sans Symbols"/>
              <a:buChar char="⮚"/>
            </a:pPr>
            <a:r>
              <a:rPr lang="en-IN" sz="2000">
                <a:latin typeface="Times New Roman"/>
                <a:ea typeface="Times New Roman"/>
                <a:cs typeface="Times New Roman"/>
                <a:sym typeface="Times New Roman"/>
              </a:rPr>
              <a:t>In 5G communications the Radio Frequencies (RF) radiation is high compared to other wireless communication systems.</a:t>
            </a:r>
            <a:endParaRPr/>
          </a:p>
          <a:p>
            <a:pPr indent="-228600" lvl="0" marL="228600" rtl="0" algn="just">
              <a:lnSpc>
                <a:spcPct val="120000"/>
              </a:lnSpc>
              <a:spcBef>
                <a:spcPts val="1000"/>
              </a:spcBef>
              <a:spcAft>
                <a:spcPts val="0"/>
              </a:spcAft>
              <a:buSzPts val="2000"/>
              <a:buFont typeface="Noto Sans Symbols"/>
              <a:buChar char="⮚"/>
            </a:pPr>
            <a:r>
              <a:rPr lang="en-IN" sz="2000">
                <a:latin typeface="Times New Roman"/>
                <a:ea typeface="Times New Roman"/>
                <a:cs typeface="Times New Roman"/>
                <a:sym typeface="Times New Roman"/>
              </a:rPr>
              <a:t>To reduce the radiation the Artificial Magnetic Conductor (AMC) structure can be used for shielding effect.</a:t>
            </a:r>
            <a:endParaRPr/>
          </a:p>
          <a:p>
            <a:pPr indent="-228600" lvl="0" marL="228600" rtl="0" algn="just">
              <a:lnSpc>
                <a:spcPct val="120000"/>
              </a:lnSpc>
              <a:spcBef>
                <a:spcPts val="1000"/>
              </a:spcBef>
              <a:spcAft>
                <a:spcPts val="0"/>
              </a:spcAft>
              <a:buSzPts val="2000"/>
              <a:buFont typeface="Noto Sans Symbols"/>
              <a:buChar char="⮚"/>
            </a:pPr>
            <a:r>
              <a:rPr lang="en-IN" sz="2000">
                <a:latin typeface="Times New Roman"/>
                <a:ea typeface="Times New Roman"/>
                <a:cs typeface="Times New Roman"/>
                <a:sym typeface="Times New Roman"/>
              </a:rPr>
              <a:t>These are used to filter the signals based on their frequencies.</a:t>
            </a:r>
            <a:endParaRPr/>
          </a:p>
          <a:p>
            <a:pPr indent="-228600" lvl="0" marL="228600" rtl="0" algn="just">
              <a:lnSpc>
                <a:spcPct val="120000"/>
              </a:lnSpc>
              <a:spcBef>
                <a:spcPts val="1000"/>
              </a:spcBef>
              <a:spcAft>
                <a:spcPts val="0"/>
              </a:spcAft>
              <a:buSzPts val="2000"/>
              <a:buFont typeface="Noto Sans Symbols"/>
              <a:buChar char="⮚"/>
            </a:pPr>
            <a:r>
              <a:rPr b="0" i="0" lang="en-IN" sz="2000">
                <a:latin typeface="Times New Roman"/>
                <a:ea typeface="Times New Roman"/>
                <a:cs typeface="Times New Roman"/>
                <a:sym typeface="Times New Roman"/>
              </a:rPr>
              <a:t>The concern is that the signal emitted by the 5G's C-Band will interfere with the signals the altimeter receives about the plane's altitude, which could impact operations during low-visibility landings or landings in bad weather.</a:t>
            </a:r>
            <a:endParaRPr/>
          </a:p>
          <a:p>
            <a:pPr indent="0" lvl="0" marL="0" rtl="0" algn="l">
              <a:lnSpc>
                <a:spcPct val="120000"/>
              </a:lnSpc>
              <a:spcBef>
                <a:spcPts val="1000"/>
              </a:spcBef>
              <a:spcAft>
                <a:spcPts val="0"/>
              </a:spcAft>
              <a:buSzPts val="2000"/>
              <a:buNone/>
            </a:pPr>
            <a:r>
              <a:t/>
            </a:r>
            <a:endParaRPr>
              <a:latin typeface="Times New Roman"/>
              <a:ea typeface="Times New Roman"/>
              <a:cs typeface="Times New Roman"/>
              <a:sym typeface="Times New Roman"/>
            </a:endParaRPr>
          </a:p>
        </p:txBody>
      </p:sp>
      <p:sp>
        <p:nvSpPr>
          <p:cNvPr id="146" name="Google Shape;146;p18"/>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147" name="Google Shape;147;p18"/>
          <p:cNvPicPr preferRelativeResize="0"/>
          <p:nvPr/>
        </p:nvPicPr>
        <p:blipFill rotWithShape="1">
          <a:blip r:embed="rId3">
            <a:alphaModFix/>
          </a:blip>
          <a:srcRect b="0" l="0" r="0" t="0"/>
          <a:stretch/>
        </p:blipFill>
        <p:spPr>
          <a:xfrm>
            <a:off x="10107168" y="0"/>
            <a:ext cx="2084832" cy="115824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9"/>
          <p:cNvSpPr txBox="1"/>
          <p:nvPr>
            <p:ph type="title"/>
          </p:nvPr>
        </p:nvSpPr>
        <p:spPr>
          <a:xfrm>
            <a:off x="1451579" y="804519"/>
            <a:ext cx="9603275" cy="104312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LITERATURE SURVEY</a:t>
            </a:r>
            <a:endParaRPr/>
          </a:p>
        </p:txBody>
      </p:sp>
      <p:sp>
        <p:nvSpPr>
          <p:cNvPr id="153" name="Google Shape;153;p19"/>
          <p:cNvSpPr txBox="1"/>
          <p:nvPr>
            <p:ph idx="1" type="body"/>
          </p:nvPr>
        </p:nvSpPr>
        <p:spPr>
          <a:xfrm>
            <a:off x="101600" y="2015732"/>
            <a:ext cx="11968479" cy="4740668"/>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sp>
        <p:nvSpPr>
          <p:cNvPr id="154" name="Google Shape;154;p19"/>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155" name="Google Shape;155;p19"/>
          <p:cNvPicPr preferRelativeResize="0"/>
          <p:nvPr/>
        </p:nvPicPr>
        <p:blipFill rotWithShape="1">
          <a:blip r:embed="rId3">
            <a:alphaModFix/>
          </a:blip>
          <a:srcRect b="0" l="0" r="0" t="0"/>
          <a:stretch/>
        </p:blipFill>
        <p:spPr>
          <a:xfrm>
            <a:off x="10107168" y="0"/>
            <a:ext cx="2084832" cy="1158240"/>
          </a:xfrm>
          <a:prstGeom prst="rect">
            <a:avLst/>
          </a:prstGeom>
          <a:noFill/>
          <a:ln>
            <a:noFill/>
          </a:ln>
        </p:spPr>
      </p:pic>
      <p:graphicFrame>
        <p:nvGraphicFramePr>
          <p:cNvPr id="156" name="Google Shape;156;p19"/>
          <p:cNvGraphicFramePr/>
          <p:nvPr/>
        </p:nvGraphicFramePr>
        <p:xfrm>
          <a:off x="101600" y="2015733"/>
          <a:ext cx="3000000" cy="3000000"/>
        </p:xfrm>
        <a:graphic>
          <a:graphicData uri="http://schemas.openxmlformats.org/drawingml/2006/table">
            <a:tbl>
              <a:tblPr bandRow="1" firstRow="1">
                <a:noFill/>
                <a:tableStyleId>{F1014AE2-0E95-4C53-BBF8-137F0D5D0B5B}</a:tableStyleId>
              </a:tblPr>
              <a:tblGrid>
                <a:gridCol w="2997200"/>
                <a:gridCol w="2997200"/>
                <a:gridCol w="2997200"/>
                <a:gridCol w="2997200"/>
              </a:tblGrid>
              <a:tr h="433975">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Paper Title</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Author</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Contribution</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Inference</a:t>
                      </a:r>
                      <a:endParaRPr sz="1800" u="none" cap="none" strike="noStrike">
                        <a:latin typeface="Times New Roman"/>
                        <a:ea typeface="Times New Roman"/>
                        <a:cs typeface="Times New Roman"/>
                        <a:sym typeface="Times New Roman"/>
                      </a:endParaRPr>
                    </a:p>
                  </a:txBody>
                  <a:tcPr marT="45725" marB="45725" marR="91450" marL="91450"/>
                </a:tc>
              </a:tr>
              <a:tr h="1741000">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A Low-Profile Broadband Dual-Polarized Base Station Antenna Array With Well-Suppressed Cross-Polarization</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Chenyang Liao, Chao-Hai Du</a:t>
                      </a:r>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A low-profile dual-band dual-polarized antenna with an artificial magnetic conductor (AMC)</a:t>
                      </a:r>
                      <a:endParaRPr/>
                    </a:p>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reflector is proposed for 5G communications. </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By adopting a AMC reflector instead of a conventional perfect electric conductor (PEC) reflector, the distance between the radiator and the reflector can be reduced</a:t>
                      </a:r>
                      <a:endParaRPr sz="1800" u="none" cap="none" strike="noStrike">
                        <a:latin typeface="Times New Roman"/>
                        <a:ea typeface="Times New Roman"/>
                        <a:cs typeface="Times New Roman"/>
                        <a:sym typeface="Times New Roman"/>
                      </a:endParaRPr>
                    </a:p>
                  </a:txBody>
                  <a:tcPr marT="45725" marB="45725" marR="91450" marL="91450"/>
                </a:tc>
              </a:tr>
              <a:tr h="2565700">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A Dual-Polarized Frequency-Reconfigurable Low-Profile Antenna With Harmonic Suppression for 5G Application</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Zhenghang Nie, Huiqing Zhai</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A dual-polarized frequency-reconfigurable lowprofile antenna with harmonic suppression and backed with AMC for 5G application</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The AMC with 0° reflection phase can improve the directivity of omnidirectional antenna and reduce profile. Through simulation, it is found that broadband AMC needs a very thick dielectric layer to achieve broadband performance</a:t>
                      </a:r>
                      <a:endParaRPr sz="1800" u="none" cap="none" strike="noStrike">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LITERATURE SURVEY</a:t>
            </a:r>
            <a:endParaRPr b="1" sz="2800">
              <a:latin typeface="Times New Roman"/>
              <a:ea typeface="Times New Roman"/>
              <a:cs typeface="Times New Roman"/>
              <a:sym typeface="Times New Roman"/>
            </a:endParaRPr>
          </a:p>
        </p:txBody>
      </p:sp>
      <p:graphicFrame>
        <p:nvGraphicFramePr>
          <p:cNvPr id="162" name="Google Shape;162;p20"/>
          <p:cNvGraphicFramePr/>
          <p:nvPr/>
        </p:nvGraphicFramePr>
        <p:xfrm>
          <a:off x="101600" y="1962759"/>
          <a:ext cx="3000000" cy="3000000"/>
        </p:xfrm>
        <a:graphic>
          <a:graphicData uri="http://schemas.openxmlformats.org/drawingml/2006/table">
            <a:tbl>
              <a:tblPr bandRow="1" firstRow="1">
                <a:noFill/>
                <a:tableStyleId>{F1014AE2-0E95-4C53-BBF8-137F0D5D0B5B}</a:tableStyleId>
              </a:tblPr>
              <a:tblGrid>
                <a:gridCol w="2992125"/>
                <a:gridCol w="2423150"/>
                <a:gridCol w="3098800"/>
                <a:gridCol w="3454400"/>
              </a:tblGrid>
              <a:tr h="447925">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Paper Title</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Author</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Contribution</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Inference</a:t>
                      </a:r>
                      <a:endParaRPr sz="1800" u="none" cap="none" strike="noStrike">
                        <a:latin typeface="Times New Roman"/>
                        <a:ea typeface="Times New Roman"/>
                        <a:cs typeface="Times New Roman"/>
                        <a:sym typeface="Times New Roman"/>
                      </a:endParaRPr>
                    </a:p>
                  </a:txBody>
                  <a:tcPr marT="45725" marB="45725" marR="91450" marL="91450"/>
                </a:tc>
              </a:tr>
              <a:tr h="2819425">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Miniaturization of Dielectric Resonator Antenna by Using Artificial Magnetic Conductor Surface </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Hazrat Ali, Mohsen Khalily, Shahid Khan, Syed Usman Ali Shah, Jalil Ur Rehman Kazim, Haider Ali, Camel Tanougast</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In this work, a dielectric resonator antenna (DRA) is miniaturized by using Artificial Magnetic conductor (AMC) surface without disturbing other important parameters.</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Without changing the basic characteristic of the antenna such as gain, resonance</a:t>
                      </a:r>
                      <a:endParaRPr/>
                    </a:p>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frequency and efficiency, it is found that this simple technique highly reduces the DR volume (85%) and ground surface (15.5%) while maintaining the overall performance of the square</a:t>
                      </a:r>
                      <a:endParaRPr/>
                    </a:p>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DRA.</a:t>
                      </a:r>
                      <a:endParaRPr sz="1800" u="none" cap="none" strike="noStrike">
                        <a:latin typeface="Times New Roman"/>
                        <a:ea typeface="Times New Roman"/>
                        <a:cs typeface="Times New Roman"/>
                        <a:sym typeface="Times New Roman"/>
                      </a:endParaRPr>
                    </a:p>
                  </a:txBody>
                  <a:tcPr marT="45725" marB="45725" marR="91450" marL="91450"/>
                </a:tc>
              </a:tr>
              <a:tr h="1455175">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Wideband Gain Enhancement of an AMC Cavity-Backed Dual-Polarized Antenna</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Shuhui Yang, , Longfei Liang, Wensong Wang, Yuanjin Zheng</a:t>
                      </a:r>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A novel low-profile wideband antenna is proposed with high-gain, high-isolated, dual-polarized properties and backed with AMC. </a:t>
                      </a:r>
                      <a:endParaRPr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Times New Roman"/>
                          <a:ea typeface="Times New Roman"/>
                          <a:cs typeface="Times New Roman"/>
                          <a:sym typeface="Times New Roman"/>
                        </a:rPr>
                        <a:t>The gain is mainly improved by the wideband AMC of the cavity. where the realized gain is 8.34-10.96 dBi and the radiation efficiency is more than 81.8%.</a:t>
                      </a:r>
                      <a:endParaRPr sz="1800" u="none" cap="none" strike="noStrike">
                        <a:latin typeface="Times New Roman"/>
                        <a:ea typeface="Times New Roman"/>
                        <a:cs typeface="Times New Roman"/>
                        <a:sym typeface="Times New Roman"/>
                      </a:endParaRPr>
                    </a:p>
                  </a:txBody>
                  <a:tcPr marT="45725" marB="45725" marR="91450" marL="91450"/>
                </a:tc>
              </a:tr>
            </a:tbl>
          </a:graphicData>
        </a:graphic>
      </p:graphicFrame>
      <p:sp>
        <p:nvSpPr>
          <p:cNvPr id="163" name="Google Shape;163;p20"/>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164" name="Google Shape;164;p20"/>
          <p:cNvPicPr preferRelativeResize="0"/>
          <p:nvPr/>
        </p:nvPicPr>
        <p:blipFill rotWithShape="1">
          <a:blip r:embed="rId3">
            <a:alphaModFix/>
          </a:blip>
          <a:srcRect b="0" l="0" r="0" t="0"/>
          <a:stretch/>
        </p:blipFill>
        <p:spPr>
          <a:xfrm>
            <a:off x="10107168" y="-20320"/>
            <a:ext cx="2084832" cy="115824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REALISTIC CONSTRAINTS</a:t>
            </a:r>
            <a:endParaRPr/>
          </a:p>
        </p:txBody>
      </p:sp>
      <p:sp>
        <p:nvSpPr>
          <p:cNvPr id="170" name="Google Shape;170;p21"/>
          <p:cNvSpPr txBox="1"/>
          <p:nvPr>
            <p:ph idx="1" type="body"/>
          </p:nvPr>
        </p:nvSpPr>
        <p:spPr>
          <a:xfrm>
            <a:off x="1451579" y="2015733"/>
            <a:ext cx="9603275" cy="3907548"/>
          </a:xfrm>
          <a:prstGeom prst="rect">
            <a:avLst/>
          </a:prstGeom>
          <a:noFill/>
          <a:ln>
            <a:noFill/>
          </a:ln>
        </p:spPr>
        <p:txBody>
          <a:bodyPr anchorCtr="0" anchor="t" bIns="45700" lIns="91425" spcFirstLastPara="1" rIns="91425" wrap="square" tIns="45700">
            <a:normAutofit fontScale="77500" lnSpcReduction="10000"/>
          </a:bodyPr>
          <a:lstStyle/>
          <a:p>
            <a:pPr indent="-322104" lvl="0" marL="457200" rtl="0" algn="l">
              <a:lnSpc>
                <a:spcPct val="120000"/>
              </a:lnSpc>
              <a:spcBef>
                <a:spcPts val="0"/>
              </a:spcBef>
              <a:spcAft>
                <a:spcPts val="0"/>
              </a:spcAft>
              <a:buClr>
                <a:schemeClr val="dk1"/>
              </a:buClr>
              <a:buSzPct val="100000"/>
              <a:buFont typeface="Times New Roman"/>
              <a:buChar char="➢"/>
            </a:pPr>
            <a:r>
              <a:rPr lang="en-IN" sz="1900">
                <a:latin typeface="Roboto"/>
                <a:ea typeface="Roboto"/>
                <a:cs typeface="Roboto"/>
                <a:sym typeface="Roboto"/>
              </a:rPr>
              <a:t>The AMC should be designed to operate across the frequency bands of interest with high reflection efficiency and low losses.</a:t>
            </a:r>
            <a:endParaRPr sz="1900">
              <a:latin typeface="Roboto"/>
              <a:ea typeface="Roboto"/>
              <a:cs typeface="Roboto"/>
              <a:sym typeface="Roboto"/>
            </a:endParaRPr>
          </a:p>
          <a:p>
            <a:pPr indent="-322104" lvl="0" marL="457200" rtl="0" algn="l">
              <a:lnSpc>
                <a:spcPct val="120000"/>
              </a:lnSpc>
              <a:spcBef>
                <a:spcPts val="0"/>
              </a:spcBef>
              <a:spcAft>
                <a:spcPts val="0"/>
              </a:spcAft>
              <a:buClr>
                <a:schemeClr val="dk1"/>
              </a:buClr>
              <a:buSzPct val="100000"/>
              <a:buFont typeface="Times New Roman"/>
              <a:buChar char="➢"/>
            </a:pPr>
            <a:r>
              <a:rPr lang="en-IN" sz="1900">
                <a:latin typeface="Roboto"/>
                <a:ea typeface="Roboto"/>
                <a:cs typeface="Roboto"/>
                <a:sym typeface="Roboto"/>
              </a:rPr>
              <a:t>The size of the AMC is an important constraint, as it needs to be small enough to integrate into 5G devices such as smartphones and tablets. The design of the AMC should take into account the size constraints of the 5G device and the desired frequency range.</a:t>
            </a:r>
            <a:endParaRPr sz="1900">
              <a:latin typeface="Roboto"/>
              <a:ea typeface="Roboto"/>
              <a:cs typeface="Roboto"/>
              <a:sym typeface="Roboto"/>
            </a:endParaRPr>
          </a:p>
          <a:p>
            <a:pPr indent="-322104" lvl="0" marL="457200" rtl="0" algn="l">
              <a:lnSpc>
                <a:spcPct val="120000"/>
              </a:lnSpc>
              <a:spcBef>
                <a:spcPts val="0"/>
              </a:spcBef>
              <a:spcAft>
                <a:spcPts val="0"/>
              </a:spcAft>
              <a:buClr>
                <a:schemeClr val="dk1"/>
              </a:buClr>
              <a:buSzPct val="100000"/>
              <a:buFont typeface="Times New Roman"/>
              <a:buChar char="➢"/>
            </a:pPr>
            <a:r>
              <a:rPr lang="en-IN" sz="1900">
                <a:latin typeface="Roboto"/>
                <a:ea typeface="Roboto"/>
                <a:cs typeface="Roboto"/>
                <a:sym typeface="Roboto"/>
              </a:rPr>
              <a:t>The AMC should be compatible with the other components of the 5G communication system, including the RF circuitry and the antenna design. The design of the AMC should take into account the impedance and radiation characteristics of the antenna.</a:t>
            </a:r>
            <a:endParaRPr sz="1900">
              <a:latin typeface="Roboto"/>
              <a:ea typeface="Roboto"/>
              <a:cs typeface="Roboto"/>
              <a:sym typeface="Roboto"/>
            </a:endParaRPr>
          </a:p>
          <a:p>
            <a:pPr indent="-322104" lvl="0" marL="457200" rtl="0" algn="l">
              <a:lnSpc>
                <a:spcPct val="120000"/>
              </a:lnSpc>
              <a:spcBef>
                <a:spcPts val="0"/>
              </a:spcBef>
              <a:spcAft>
                <a:spcPts val="0"/>
              </a:spcAft>
              <a:buClr>
                <a:schemeClr val="dk1"/>
              </a:buClr>
              <a:buSzPct val="100000"/>
              <a:buFont typeface="Times New Roman"/>
              <a:buChar char="➢"/>
            </a:pPr>
            <a:r>
              <a:rPr lang="en-IN" sz="1900">
                <a:latin typeface="Roboto"/>
                <a:ea typeface="Roboto"/>
                <a:cs typeface="Roboto"/>
                <a:sym typeface="Roboto"/>
              </a:rPr>
              <a:t>The cost of the AMC is an important factor to consider, as it needs to be affordable for widespread deployment in 5G networks. The AMC design should be optimized for low cost and manufacturability.</a:t>
            </a:r>
            <a:endParaRPr sz="1900">
              <a:latin typeface="Roboto"/>
              <a:ea typeface="Roboto"/>
              <a:cs typeface="Roboto"/>
              <a:sym typeface="Roboto"/>
            </a:endParaRPr>
          </a:p>
          <a:p>
            <a:pPr indent="-322104" lvl="0" marL="457200" rtl="0" algn="l">
              <a:lnSpc>
                <a:spcPct val="120000"/>
              </a:lnSpc>
              <a:spcBef>
                <a:spcPts val="0"/>
              </a:spcBef>
              <a:spcAft>
                <a:spcPts val="0"/>
              </a:spcAft>
              <a:buClr>
                <a:schemeClr val="dk1"/>
              </a:buClr>
              <a:buSzPct val="100000"/>
              <a:buFont typeface="Times New Roman"/>
              <a:buChar char="➢"/>
            </a:pPr>
            <a:r>
              <a:rPr lang="en-IN" sz="1900">
                <a:latin typeface="Roboto"/>
                <a:ea typeface="Roboto"/>
                <a:cs typeface="Roboto"/>
                <a:sym typeface="Roboto"/>
              </a:rPr>
              <a:t>The AMC should be designed to withstand the environmental factors such as temperature, humidity, and vibration that the 5G devices might encounter during its life cycle.</a:t>
            </a:r>
            <a:endParaRPr sz="1900">
              <a:latin typeface="Roboto"/>
              <a:ea typeface="Roboto"/>
              <a:cs typeface="Roboto"/>
              <a:sym typeface="Roboto"/>
            </a:endParaRPr>
          </a:p>
          <a:p>
            <a:pPr indent="-322104" lvl="0" marL="457200" rtl="0" algn="l">
              <a:lnSpc>
                <a:spcPct val="120000"/>
              </a:lnSpc>
              <a:spcBef>
                <a:spcPts val="0"/>
              </a:spcBef>
              <a:spcAft>
                <a:spcPts val="0"/>
              </a:spcAft>
              <a:buClr>
                <a:schemeClr val="dk1"/>
              </a:buClr>
              <a:buSzPct val="100000"/>
              <a:buFont typeface="Times New Roman"/>
              <a:buChar char="➢"/>
            </a:pPr>
            <a:r>
              <a:rPr lang="en-IN" sz="1900">
                <a:latin typeface="Roboto"/>
                <a:ea typeface="Roboto"/>
                <a:cs typeface="Roboto"/>
                <a:sym typeface="Roboto"/>
              </a:rPr>
              <a:t>Overall, the AMC design needs to balance the above constraints to ensure a reliable and cost-effective 5G communication system.</a:t>
            </a:r>
            <a:endParaRPr sz="1900">
              <a:latin typeface="Roboto"/>
              <a:ea typeface="Roboto"/>
              <a:cs typeface="Roboto"/>
              <a:sym typeface="Roboto"/>
            </a:endParaRPr>
          </a:p>
          <a:p>
            <a:pPr indent="0" lvl="0" marL="457200" rtl="0" algn="l">
              <a:lnSpc>
                <a:spcPct val="120000"/>
              </a:lnSpc>
              <a:spcBef>
                <a:spcPts val="0"/>
              </a:spcBef>
              <a:spcAft>
                <a:spcPts val="0"/>
              </a:spcAft>
              <a:buNone/>
            </a:pPr>
            <a:r>
              <a:t/>
            </a:r>
            <a:endParaRPr sz="1200">
              <a:solidFill>
                <a:srgbClr val="D1D5DB"/>
              </a:solidFill>
              <a:highlight>
                <a:srgbClr val="444654"/>
              </a:highlight>
              <a:latin typeface="Roboto"/>
              <a:ea typeface="Roboto"/>
              <a:cs typeface="Roboto"/>
              <a:sym typeface="Roboto"/>
            </a:endParaRPr>
          </a:p>
        </p:txBody>
      </p:sp>
      <p:sp>
        <p:nvSpPr>
          <p:cNvPr id="171" name="Google Shape;171;p21"/>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172" name="Google Shape;172;p21"/>
          <p:cNvPicPr preferRelativeResize="0"/>
          <p:nvPr/>
        </p:nvPicPr>
        <p:blipFill rotWithShape="1">
          <a:blip r:embed="rId3">
            <a:alphaModFix/>
          </a:blip>
          <a:srcRect b="0" l="0" r="0" t="0"/>
          <a:stretch/>
        </p:blipFill>
        <p:spPr>
          <a:xfrm>
            <a:off x="10107168" y="-20320"/>
            <a:ext cx="2084832" cy="11582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NOVELTY</a:t>
            </a:r>
            <a:endParaRPr/>
          </a:p>
        </p:txBody>
      </p:sp>
      <p:sp>
        <p:nvSpPr>
          <p:cNvPr id="178" name="Google Shape;178;p22"/>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just">
              <a:lnSpc>
                <a:spcPct val="120000"/>
              </a:lnSpc>
              <a:spcBef>
                <a:spcPts val="0"/>
              </a:spcBef>
              <a:spcAft>
                <a:spcPts val="0"/>
              </a:spcAft>
              <a:buSzPts val="2000"/>
              <a:buFont typeface="Noto Sans Symbols"/>
              <a:buChar char="⮚"/>
            </a:pPr>
            <a:r>
              <a:rPr lang="en-IN" sz="2000">
                <a:latin typeface="Times New Roman"/>
                <a:ea typeface="Times New Roman"/>
                <a:cs typeface="Times New Roman"/>
                <a:sym typeface="Times New Roman"/>
              </a:rPr>
              <a:t>A new metallic compact AMC unit cell.</a:t>
            </a:r>
            <a:endParaRPr/>
          </a:p>
          <a:p>
            <a:pPr indent="-228600" lvl="0" marL="228600" rtl="0" algn="just">
              <a:lnSpc>
                <a:spcPct val="120000"/>
              </a:lnSpc>
              <a:spcBef>
                <a:spcPts val="1000"/>
              </a:spcBef>
              <a:spcAft>
                <a:spcPts val="0"/>
              </a:spcAft>
              <a:buSzPts val="2000"/>
              <a:buFont typeface="Noto Sans Symbols"/>
              <a:buChar char="⮚"/>
            </a:pPr>
            <a:r>
              <a:rPr lang="en-IN" sz="2000">
                <a:latin typeface="Times New Roman"/>
                <a:ea typeface="Times New Roman"/>
                <a:cs typeface="Times New Roman"/>
                <a:sym typeface="Times New Roman"/>
              </a:rPr>
              <a:t>Reduced Substrate Length which leads to overall reduction in the size.</a:t>
            </a:r>
            <a:endParaRPr/>
          </a:p>
        </p:txBody>
      </p:sp>
      <p:sp>
        <p:nvSpPr>
          <p:cNvPr id="179" name="Google Shape;179;p22"/>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180" name="Google Shape;180;p22"/>
          <p:cNvPicPr preferRelativeResize="0"/>
          <p:nvPr/>
        </p:nvPicPr>
        <p:blipFill rotWithShape="1">
          <a:blip r:embed="rId3">
            <a:alphaModFix/>
          </a:blip>
          <a:srcRect b="0" l="0" r="0" t="0"/>
          <a:stretch/>
        </p:blipFill>
        <p:spPr>
          <a:xfrm>
            <a:off x="10107168" y="0"/>
            <a:ext cx="2084832" cy="115824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DIMENSIONS</a:t>
            </a:r>
            <a:endParaRPr/>
          </a:p>
        </p:txBody>
      </p:sp>
      <p:graphicFrame>
        <p:nvGraphicFramePr>
          <p:cNvPr id="186" name="Google Shape;186;p23"/>
          <p:cNvGraphicFramePr/>
          <p:nvPr/>
        </p:nvGraphicFramePr>
        <p:xfrm>
          <a:off x="1450975" y="2016125"/>
          <a:ext cx="3000000" cy="3000000"/>
        </p:xfrm>
        <a:graphic>
          <a:graphicData uri="http://schemas.openxmlformats.org/drawingml/2006/table">
            <a:tbl>
              <a:tblPr bandRow="1" firstRow="1">
                <a:noFill/>
                <a:tableStyleId>{F1014AE2-0E95-4C53-BBF8-137F0D5D0B5B}</a:tableStyleId>
              </a:tblPr>
              <a:tblGrid>
                <a:gridCol w="2401100"/>
                <a:gridCol w="2401100"/>
                <a:gridCol w="2401100"/>
                <a:gridCol w="2401100"/>
              </a:tblGrid>
              <a:tr h="370850">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Parameters</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Values (mm)</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Parameters</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Values (mm)</a:t>
                      </a:r>
                      <a:endParaRPr/>
                    </a:p>
                  </a:txBody>
                  <a:tcPr marT="45725" marB="45725" marR="91450" marL="91450"/>
                </a:tc>
              </a:tr>
              <a:tr h="370850">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L1</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9.6</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S3</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0.2</a:t>
                      </a:r>
                      <a:endParaRPr/>
                    </a:p>
                  </a:txBody>
                  <a:tcPr marT="45725" marB="45725" marR="91450" marL="91450"/>
                </a:tc>
              </a:tr>
              <a:tr h="370850">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L2</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9.2</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L</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20</a:t>
                      </a:r>
                      <a:endParaRPr/>
                    </a:p>
                  </a:txBody>
                  <a:tcPr marT="45725" marB="45725" marR="91450" marL="91450"/>
                </a:tc>
              </a:tr>
              <a:tr h="370850">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L3</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8.2</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W</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26</a:t>
                      </a:r>
                      <a:endParaRPr/>
                    </a:p>
                  </a:txBody>
                  <a:tcPr marT="45725" marB="45725" marR="91450" marL="91450"/>
                </a:tc>
              </a:tr>
              <a:tr h="370850">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L4</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3.8</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W1</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45</a:t>
                      </a:r>
                      <a:endParaRPr/>
                    </a:p>
                  </a:txBody>
                  <a:tcPr marT="45725" marB="45725" marR="91450" marL="91450"/>
                </a:tc>
              </a:tr>
              <a:tr h="370850">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L5</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3.4</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A</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45</a:t>
                      </a:r>
                      <a:endParaRPr/>
                    </a:p>
                  </a:txBody>
                  <a:tcPr marT="45725" marB="45725" marR="91450" marL="91450"/>
                </a:tc>
              </a:tr>
              <a:tr h="370850">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L6</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10.8</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F</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11.8</a:t>
                      </a:r>
                      <a:endParaRPr/>
                    </a:p>
                  </a:txBody>
                  <a:tcPr marT="45725" marB="45725" marR="91450" marL="91450"/>
                </a:tc>
              </a:tr>
              <a:tr h="370850">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S1</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0.2</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Fw</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3</a:t>
                      </a:r>
                      <a:endParaRPr/>
                    </a:p>
                  </a:txBody>
                  <a:tcPr marT="45725" marB="45725" marR="91450" marL="91450"/>
                </a:tc>
              </a:tr>
              <a:tr h="370850">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S2</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0.2</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B</a:t>
                      </a:r>
                      <a:endParaRPr/>
                    </a:p>
                  </a:txBody>
                  <a:tcPr marT="45725" marB="45725" marR="91450" marL="91450"/>
                </a:tc>
                <a:tc>
                  <a:txBody>
                    <a:bodyPr/>
                    <a:lstStyle/>
                    <a:p>
                      <a:pPr indent="0" lvl="0" marL="0" marR="0" rtl="0" algn="ctr">
                        <a:spcBef>
                          <a:spcPts val="0"/>
                        </a:spcBef>
                        <a:spcAft>
                          <a:spcPts val="0"/>
                        </a:spcAft>
                        <a:buNone/>
                      </a:pPr>
                      <a:r>
                        <a:rPr b="1" lang="en-IN" sz="1800" u="none" cap="none" strike="noStrike">
                          <a:latin typeface="Times New Roman"/>
                          <a:ea typeface="Times New Roman"/>
                          <a:cs typeface="Times New Roman"/>
                          <a:sym typeface="Times New Roman"/>
                        </a:rPr>
                        <a:t>41.3</a:t>
                      </a:r>
                      <a:endParaRPr/>
                    </a:p>
                  </a:txBody>
                  <a:tcPr marT="45725" marB="45725" marR="91450" marL="91450"/>
                </a:tc>
              </a:tr>
            </a:tbl>
          </a:graphicData>
        </a:graphic>
      </p:graphicFrame>
      <p:sp>
        <p:nvSpPr>
          <p:cNvPr id="187" name="Google Shape;187;p23"/>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188" name="Google Shape;188;p23"/>
          <p:cNvPicPr preferRelativeResize="0"/>
          <p:nvPr/>
        </p:nvPicPr>
        <p:blipFill rotWithShape="1">
          <a:blip r:embed="rId3">
            <a:alphaModFix/>
          </a:blip>
          <a:srcRect b="0" l="0" r="0" t="0"/>
          <a:stretch/>
        </p:blipFill>
        <p:spPr>
          <a:xfrm>
            <a:off x="10107168" y="0"/>
            <a:ext cx="2084832" cy="115824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lang="en-IN" sz="2800">
                <a:latin typeface="Times New Roman"/>
                <a:ea typeface="Times New Roman"/>
                <a:cs typeface="Times New Roman"/>
                <a:sym typeface="Times New Roman"/>
              </a:rPr>
              <a:t> </a:t>
            </a:r>
            <a:r>
              <a:rPr b="1" lang="en-IN" sz="2800">
                <a:latin typeface="Times New Roman"/>
                <a:ea typeface="Times New Roman"/>
                <a:cs typeface="Times New Roman"/>
                <a:sym typeface="Times New Roman"/>
              </a:rPr>
              <a:t>PROPOSED STRUCTURE</a:t>
            </a:r>
            <a:endParaRPr sz="2800">
              <a:latin typeface="Times New Roman"/>
              <a:ea typeface="Times New Roman"/>
              <a:cs typeface="Times New Roman"/>
              <a:sym typeface="Times New Roman"/>
            </a:endParaRPr>
          </a:p>
        </p:txBody>
      </p:sp>
      <p:sp>
        <p:nvSpPr>
          <p:cNvPr id="194" name="Google Shape;194;p24"/>
          <p:cNvSpPr txBox="1"/>
          <p:nvPr>
            <p:ph idx="1" type="body"/>
          </p:nvPr>
        </p:nvSpPr>
        <p:spPr>
          <a:xfrm>
            <a:off x="1451579" y="2015732"/>
            <a:ext cx="9603275" cy="3974007"/>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IN">
                <a:latin typeface="Times New Roman"/>
                <a:ea typeface="Times New Roman"/>
                <a:cs typeface="Times New Roman"/>
                <a:sym typeface="Times New Roman"/>
              </a:rPr>
              <a:t>Proposed AMC Unit Cell</a:t>
            </a:r>
            <a:endParaRPr/>
          </a:p>
          <a:p>
            <a:pPr indent="0" lvl="0" marL="0" rtl="0" algn="l">
              <a:lnSpc>
                <a:spcPct val="120000"/>
              </a:lnSpc>
              <a:spcBef>
                <a:spcPts val="1000"/>
              </a:spcBef>
              <a:spcAft>
                <a:spcPts val="0"/>
              </a:spcAft>
              <a:buSzPts val="2000"/>
              <a:buNone/>
            </a:pPr>
            <a:r>
              <a:t/>
            </a:r>
            <a:endParaRPr>
              <a:latin typeface="Times New Roman"/>
              <a:ea typeface="Times New Roman"/>
              <a:cs typeface="Times New Roman"/>
              <a:sym typeface="Times New Roman"/>
            </a:endParaRPr>
          </a:p>
        </p:txBody>
      </p:sp>
      <p:sp>
        <p:nvSpPr>
          <p:cNvPr id="195" name="Google Shape;195;p24"/>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196" name="Google Shape;196;p24"/>
          <p:cNvPicPr preferRelativeResize="0"/>
          <p:nvPr/>
        </p:nvPicPr>
        <p:blipFill rotWithShape="1">
          <a:blip r:embed="rId3">
            <a:alphaModFix/>
          </a:blip>
          <a:srcRect b="0" l="0" r="0" t="0"/>
          <a:stretch/>
        </p:blipFill>
        <p:spPr>
          <a:xfrm>
            <a:off x="10107168" y="0"/>
            <a:ext cx="2084832" cy="1158240"/>
          </a:xfrm>
          <a:prstGeom prst="rect">
            <a:avLst/>
          </a:prstGeom>
          <a:noFill/>
          <a:ln>
            <a:noFill/>
          </a:ln>
        </p:spPr>
      </p:pic>
      <p:pic>
        <p:nvPicPr>
          <p:cNvPr id="197" name="Google Shape;197;p24"/>
          <p:cNvPicPr preferRelativeResize="0"/>
          <p:nvPr/>
        </p:nvPicPr>
        <p:blipFill rotWithShape="1">
          <a:blip r:embed="rId4">
            <a:alphaModFix/>
          </a:blip>
          <a:srcRect b="0" l="0" r="0" t="0"/>
          <a:stretch/>
        </p:blipFill>
        <p:spPr>
          <a:xfrm>
            <a:off x="4414891" y="2500137"/>
            <a:ext cx="3676650" cy="3267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PROPOSED STRUCTURE</a:t>
            </a:r>
            <a:endParaRPr/>
          </a:p>
        </p:txBody>
      </p:sp>
      <p:sp>
        <p:nvSpPr>
          <p:cNvPr id="203" name="Google Shape;203;p25"/>
          <p:cNvSpPr txBox="1"/>
          <p:nvPr>
            <p:ph idx="1" type="body"/>
          </p:nvPr>
        </p:nvSpPr>
        <p:spPr>
          <a:xfrm>
            <a:off x="1451579" y="2015732"/>
            <a:ext cx="9603275" cy="3948840"/>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IN">
                <a:latin typeface="Times New Roman"/>
                <a:ea typeface="Times New Roman"/>
                <a:cs typeface="Times New Roman"/>
                <a:sym typeface="Times New Roman"/>
              </a:rPr>
              <a:t>Proposed Patch Antenna</a:t>
            </a:r>
            <a:endParaRPr/>
          </a:p>
        </p:txBody>
      </p:sp>
      <p:sp>
        <p:nvSpPr>
          <p:cNvPr id="204" name="Google Shape;204;p25"/>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205" name="Google Shape;205;p25"/>
          <p:cNvPicPr preferRelativeResize="0"/>
          <p:nvPr/>
        </p:nvPicPr>
        <p:blipFill rotWithShape="1">
          <a:blip r:embed="rId3">
            <a:alphaModFix/>
          </a:blip>
          <a:srcRect b="0" l="0" r="0" t="0"/>
          <a:stretch/>
        </p:blipFill>
        <p:spPr>
          <a:xfrm>
            <a:off x="10107168" y="0"/>
            <a:ext cx="2084832" cy="1158240"/>
          </a:xfrm>
          <a:prstGeom prst="rect">
            <a:avLst/>
          </a:prstGeom>
          <a:noFill/>
          <a:ln>
            <a:noFill/>
          </a:ln>
        </p:spPr>
      </p:pic>
      <p:pic>
        <p:nvPicPr>
          <p:cNvPr id="206" name="Google Shape;206;p25"/>
          <p:cNvPicPr preferRelativeResize="0"/>
          <p:nvPr/>
        </p:nvPicPr>
        <p:blipFill rotWithShape="1">
          <a:blip r:embed="rId4">
            <a:alphaModFix/>
          </a:blip>
          <a:srcRect b="0" l="0" r="0" t="0"/>
          <a:stretch/>
        </p:blipFill>
        <p:spPr>
          <a:xfrm>
            <a:off x="2046087" y="2524049"/>
            <a:ext cx="3105150" cy="2724150"/>
          </a:xfrm>
          <a:prstGeom prst="rect">
            <a:avLst/>
          </a:prstGeom>
          <a:noFill/>
          <a:ln>
            <a:noFill/>
          </a:ln>
        </p:spPr>
      </p:pic>
      <p:pic>
        <p:nvPicPr>
          <p:cNvPr id="207" name="Google Shape;207;p25"/>
          <p:cNvPicPr preferRelativeResize="0"/>
          <p:nvPr/>
        </p:nvPicPr>
        <p:blipFill rotWithShape="1">
          <a:blip r:embed="rId5">
            <a:alphaModFix/>
          </a:blip>
          <a:srcRect b="0" l="0" r="0" t="0"/>
          <a:stretch/>
        </p:blipFill>
        <p:spPr>
          <a:xfrm>
            <a:off x="7345565" y="2538730"/>
            <a:ext cx="3105150" cy="270946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6"/>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PROPOSED STRUCTURE</a:t>
            </a:r>
            <a:endParaRPr/>
          </a:p>
        </p:txBody>
      </p:sp>
      <p:sp>
        <p:nvSpPr>
          <p:cNvPr id="213" name="Google Shape;213;p26"/>
          <p:cNvSpPr txBox="1"/>
          <p:nvPr>
            <p:ph idx="1" type="body"/>
          </p:nvPr>
        </p:nvSpPr>
        <p:spPr>
          <a:xfrm>
            <a:off x="1451579" y="2015732"/>
            <a:ext cx="9603275" cy="3923674"/>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IN">
                <a:latin typeface="Times New Roman"/>
                <a:ea typeface="Times New Roman"/>
                <a:cs typeface="Times New Roman"/>
                <a:sym typeface="Times New Roman"/>
              </a:rPr>
              <a:t>Proposed Antenna backed with AMC</a:t>
            </a:r>
            <a:endParaRPr/>
          </a:p>
        </p:txBody>
      </p:sp>
      <p:sp>
        <p:nvSpPr>
          <p:cNvPr id="214" name="Google Shape;214;p26"/>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215" name="Google Shape;215;p26"/>
          <p:cNvPicPr preferRelativeResize="0"/>
          <p:nvPr/>
        </p:nvPicPr>
        <p:blipFill rotWithShape="1">
          <a:blip r:embed="rId3">
            <a:alphaModFix/>
          </a:blip>
          <a:srcRect b="0" l="0" r="0" t="0"/>
          <a:stretch/>
        </p:blipFill>
        <p:spPr>
          <a:xfrm>
            <a:off x="10107168" y="0"/>
            <a:ext cx="2084832" cy="1158240"/>
          </a:xfrm>
          <a:prstGeom prst="rect">
            <a:avLst/>
          </a:prstGeom>
          <a:noFill/>
          <a:ln>
            <a:noFill/>
          </a:ln>
        </p:spPr>
      </p:pic>
      <p:pic>
        <p:nvPicPr>
          <p:cNvPr id="216" name="Google Shape;216;p26"/>
          <p:cNvPicPr preferRelativeResize="0"/>
          <p:nvPr/>
        </p:nvPicPr>
        <p:blipFill rotWithShape="1">
          <a:blip r:embed="rId4">
            <a:alphaModFix/>
          </a:blip>
          <a:srcRect b="0" l="0" r="0" t="0"/>
          <a:stretch/>
        </p:blipFill>
        <p:spPr>
          <a:xfrm>
            <a:off x="3528357" y="2549641"/>
            <a:ext cx="4933950" cy="2647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METHODOLOGY</a:t>
            </a:r>
            <a:endParaRPr/>
          </a:p>
        </p:txBody>
      </p:sp>
      <p:sp>
        <p:nvSpPr>
          <p:cNvPr id="222" name="Google Shape;222;p27"/>
          <p:cNvSpPr txBox="1"/>
          <p:nvPr>
            <p:ph idx="1" type="body"/>
          </p:nvPr>
        </p:nvSpPr>
        <p:spPr>
          <a:xfrm>
            <a:off x="894080" y="2015732"/>
            <a:ext cx="11175999" cy="4037749"/>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Font typeface="Noto Sans Symbols"/>
              <a:buChar char="⮚"/>
            </a:pPr>
            <a:r>
              <a:rPr b="0" i="0" lang="en-IN">
                <a:latin typeface="Times New Roman"/>
                <a:ea typeface="Times New Roman"/>
                <a:cs typeface="Times New Roman"/>
                <a:sym typeface="Times New Roman"/>
              </a:rPr>
              <a:t>Choose a simulation software, such as HFSS, CST, or Ansoft Designer. </a:t>
            </a:r>
            <a:endParaRPr/>
          </a:p>
          <a:p>
            <a:pPr indent="-228600" lvl="0" marL="228600" rtl="0" algn="l">
              <a:lnSpc>
                <a:spcPct val="120000"/>
              </a:lnSpc>
              <a:spcBef>
                <a:spcPts val="1000"/>
              </a:spcBef>
              <a:spcAft>
                <a:spcPts val="0"/>
              </a:spcAft>
              <a:buSzPts val="2000"/>
              <a:buFont typeface="Noto Sans Symbols"/>
              <a:buChar char="⮚"/>
            </a:pPr>
            <a:r>
              <a:rPr b="0" i="0" lang="en-IN">
                <a:latin typeface="Times New Roman"/>
                <a:ea typeface="Times New Roman"/>
                <a:cs typeface="Times New Roman"/>
                <a:sym typeface="Times New Roman"/>
              </a:rPr>
              <a:t>Determine the frequency range of interest. </a:t>
            </a:r>
            <a:endParaRPr/>
          </a:p>
          <a:p>
            <a:pPr indent="-228600" lvl="0" marL="228600" rtl="0" algn="l">
              <a:lnSpc>
                <a:spcPct val="120000"/>
              </a:lnSpc>
              <a:spcBef>
                <a:spcPts val="1000"/>
              </a:spcBef>
              <a:spcAft>
                <a:spcPts val="0"/>
              </a:spcAft>
              <a:buSzPts val="2000"/>
              <a:buFont typeface="Noto Sans Symbols"/>
              <a:buChar char="⮚"/>
            </a:pPr>
            <a:r>
              <a:rPr b="0" i="0" lang="en-IN">
                <a:latin typeface="Times New Roman"/>
                <a:ea typeface="Times New Roman"/>
                <a:cs typeface="Times New Roman"/>
                <a:sym typeface="Times New Roman"/>
              </a:rPr>
              <a:t>Create a new 3D design with appropriate dimensions for the frequency range. </a:t>
            </a:r>
            <a:endParaRPr/>
          </a:p>
          <a:p>
            <a:pPr indent="-228600" lvl="0" marL="228600" rtl="0" algn="l">
              <a:lnSpc>
                <a:spcPct val="120000"/>
              </a:lnSpc>
              <a:spcBef>
                <a:spcPts val="1000"/>
              </a:spcBef>
              <a:spcAft>
                <a:spcPts val="0"/>
              </a:spcAft>
              <a:buSzPts val="2000"/>
              <a:buFont typeface="Noto Sans Symbols"/>
              <a:buChar char="⮚"/>
            </a:pPr>
            <a:r>
              <a:rPr b="0" i="0" lang="en-IN">
                <a:latin typeface="Times New Roman"/>
                <a:ea typeface="Times New Roman"/>
                <a:cs typeface="Times New Roman"/>
                <a:sym typeface="Times New Roman"/>
              </a:rPr>
              <a:t>Add a metal layer to the design and apply a periodic boundary condition on it. </a:t>
            </a:r>
            <a:endParaRPr/>
          </a:p>
          <a:p>
            <a:pPr indent="-228600" lvl="0" marL="228600" rtl="0" algn="l">
              <a:lnSpc>
                <a:spcPct val="120000"/>
              </a:lnSpc>
              <a:spcBef>
                <a:spcPts val="1000"/>
              </a:spcBef>
              <a:spcAft>
                <a:spcPts val="0"/>
              </a:spcAft>
              <a:buSzPts val="2000"/>
              <a:buFont typeface="Noto Sans Symbols"/>
              <a:buChar char="⮚"/>
            </a:pPr>
            <a:r>
              <a:rPr b="0" i="0" lang="en-IN">
                <a:latin typeface="Times New Roman"/>
                <a:ea typeface="Times New Roman"/>
                <a:cs typeface="Times New Roman"/>
                <a:sym typeface="Times New Roman"/>
              </a:rPr>
              <a:t>Define the properties of the metal using the Material Library in the simulation software. </a:t>
            </a:r>
            <a:endParaRPr/>
          </a:p>
          <a:p>
            <a:pPr indent="-228600" lvl="0" marL="228600" rtl="0" algn="l">
              <a:lnSpc>
                <a:spcPct val="120000"/>
              </a:lnSpc>
              <a:spcBef>
                <a:spcPts val="1000"/>
              </a:spcBef>
              <a:spcAft>
                <a:spcPts val="0"/>
              </a:spcAft>
              <a:buSzPts val="2000"/>
              <a:buFont typeface="Noto Sans Symbols"/>
              <a:buChar char="⮚"/>
            </a:pPr>
            <a:r>
              <a:rPr b="0" i="0" lang="en-IN">
                <a:latin typeface="Times New Roman"/>
                <a:ea typeface="Times New Roman"/>
                <a:cs typeface="Times New Roman"/>
                <a:sym typeface="Times New Roman"/>
              </a:rPr>
              <a:t>Place perfect electric conductor (PEC) boundary conditions on the other surfaces of the design. </a:t>
            </a:r>
            <a:endParaRPr/>
          </a:p>
          <a:p>
            <a:pPr indent="-228600" lvl="0" marL="228600" rtl="0" algn="l">
              <a:lnSpc>
                <a:spcPct val="120000"/>
              </a:lnSpc>
              <a:spcBef>
                <a:spcPts val="1000"/>
              </a:spcBef>
              <a:spcAft>
                <a:spcPts val="0"/>
              </a:spcAft>
              <a:buSzPts val="2000"/>
              <a:buFont typeface="Noto Sans Symbols"/>
              <a:buChar char="⮚"/>
            </a:pPr>
            <a:r>
              <a:rPr b="0" i="0" lang="en-IN">
                <a:latin typeface="Times New Roman"/>
                <a:ea typeface="Times New Roman"/>
                <a:cs typeface="Times New Roman"/>
                <a:sym typeface="Times New Roman"/>
              </a:rPr>
              <a:t>Set the frequency range of interest in the Excitation/Far-Field setup. </a:t>
            </a:r>
            <a:endParaRPr/>
          </a:p>
        </p:txBody>
      </p:sp>
      <p:sp>
        <p:nvSpPr>
          <p:cNvPr id="223" name="Google Shape;223;p27"/>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224" name="Google Shape;224;p27"/>
          <p:cNvPicPr preferRelativeResize="0"/>
          <p:nvPr/>
        </p:nvPicPr>
        <p:blipFill rotWithShape="1">
          <a:blip r:embed="rId3">
            <a:alphaModFix/>
          </a:blip>
          <a:srcRect b="0" l="0" r="0" t="0"/>
          <a:stretch/>
        </p:blipFill>
        <p:spPr>
          <a:xfrm>
            <a:off x="10107168" y="0"/>
            <a:ext cx="2084832" cy="115824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METHODOLOGY</a:t>
            </a:r>
            <a:endParaRPr/>
          </a:p>
        </p:txBody>
      </p:sp>
      <p:sp>
        <p:nvSpPr>
          <p:cNvPr id="230" name="Google Shape;230;p28"/>
          <p:cNvSpPr txBox="1"/>
          <p:nvPr>
            <p:ph idx="1" type="body"/>
          </p:nvPr>
        </p:nvSpPr>
        <p:spPr>
          <a:xfrm>
            <a:off x="883921" y="2015732"/>
            <a:ext cx="10170934"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Font typeface="Noto Sans Symbols"/>
              <a:buChar char="⮚"/>
            </a:pPr>
            <a:r>
              <a:rPr b="0" i="0" lang="en-IN" sz="2000">
                <a:latin typeface="Times New Roman"/>
                <a:ea typeface="Times New Roman"/>
                <a:cs typeface="Times New Roman"/>
                <a:sym typeface="Times New Roman"/>
              </a:rPr>
              <a:t>Run a frequency sweep simulation to calculate the scattering parameters. </a:t>
            </a:r>
            <a:endParaRPr/>
          </a:p>
          <a:p>
            <a:pPr indent="-228600" lvl="0" marL="228600" rtl="0" algn="l">
              <a:lnSpc>
                <a:spcPct val="120000"/>
              </a:lnSpc>
              <a:spcBef>
                <a:spcPts val="1000"/>
              </a:spcBef>
              <a:spcAft>
                <a:spcPts val="0"/>
              </a:spcAft>
              <a:buSzPts val="2000"/>
              <a:buFont typeface="Noto Sans Symbols"/>
              <a:buChar char="⮚"/>
            </a:pPr>
            <a:r>
              <a:rPr b="0" i="0" lang="en-IN" sz="2000">
                <a:latin typeface="Times New Roman"/>
                <a:ea typeface="Times New Roman"/>
                <a:cs typeface="Times New Roman"/>
                <a:sym typeface="Times New Roman"/>
              </a:rPr>
              <a:t>Extract the S-parameters and plot the reflection degree to determine the frequency response of the AMC.</a:t>
            </a:r>
            <a:endParaRPr/>
          </a:p>
          <a:p>
            <a:pPr indent="-228600" lvl="0" marL="228600" rtl="0" algn="l">
              <a:lnSpc>
                <a:spcPct val="120000"/>
              </a:lnSpc>
              <a:spcBef>
                <a:spcPts val="1000"/>
              </a:spcBef>
              <a:spcAft>
                <a:spcPts val="0"/>
              </a:spcAft>
              <a:buSzPts val="2000"/>
              <a:buFont typeface="Noto Sans Symbols"/>
              <a:buChar char="⮚"/>
            </a:pPr>
            <a:r>
              <a:rPr b="0" i="0" lang="en-IN" sz="2000">
                <a:latin typeface="Times New Roman"/>
                <a:ea typeface="Times New Roman"/>
                <a:cs typeface="Times New Roman"/>
                <a:sym typeface="Times New Roman"/>
              </a:rPr>
              <a:t>Modify the metal layer geometry and/or properties to achieve the desired response. </a:t>
            </a:r>
            <a:endParaRPr/>
          </a:p>
          <a:p>
            <a:pPr indent="-228600" lvl="0" marL="228600" rtl="0" algn="l">
              <a:lnSpc>
                <a:spcPct val="120000"/>
              </a:lnSpc>
              <a:spcBef>
                <a:spcPts val="1000"/>
              </a:spcBef>
              <a:spcAft>
                <a:spcPts val="0"/>
              </a:spcAft>
              <a:buSzPts val="2000"/>
              <a:buFont typeface="Noto Sans Symbols"/>
              <a:buChar char="⮚"/>
            </a:pPr>
            <a:r>
              <a:rPr b="0" i="0" lang="en-IN" sz="2000">
                <a:latin typeface="Times New Roman"/>
                <a:ea typeface="Times New Roman"/>
                <a:cs typeface="Times New Roman"/>
                <a:sym typeface="Times New Roman"/>
              </a:rPr>
              <a:t>Repeat steps until the desired AMC response is achieved.</a:t>
            </a:r>
            <a:endParaRPr/>
          </a:p>
          <a:p>
            <a:pPr indent="-101600" lvl="0" marL="228600" rtl="0" algn="l">
              <a:lnSpc>
                <a:spcPct val="120000"/>
              </a:lnSpc>
              <a:spcBef>
                <a:spcPts val="1000"/>
              </a:spcBef>
              <a:spcAft>
                <a:spcPts val="0"/>
              </a:spcAft>
              <a:buSzPts val="2000"/>
              <a:buNone/>
            </a:pPr>
            <a:r>
              <a:t/>
            </a:r>
            <a:endParaRPr>
              <a:latin typeface="Times New Roman"/>
              <a:ea typeface="Times New Roman"/>
              <a:cs typeface="Times New Roman"/>
              <a:sym typeface="Times New Roman"/>
            </a:endParaRPr>
          </a:p>
        </p:txBody>
      </p:sp>
      <p:sp>
        <p:nvSpPr>
          <p:cNvPr id="231" name="Google Shape;231;p28"/>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232" name="Google Shape;232;p28"/>
          <p:cNvPicPr preferRelativeResize="0"/>
          <p:nvPr/>
        </p:nvPicPr>
        <p:blipFill rotWithShape="1">
          <a:blip r:embed="rId3">
            <a:alphaModFix/>
          </a:blip>
          <a:srcRect b="0" l="0" r="0" t="0"/>
          <a:stretch/>
        </p:blipFill>
        <p:spPr>
          <a:xfrm>
            <a:off x="10107168" y="0"/>
            <a:ext cx="2084832" cy="115824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FLOWCHART / ALGORITHM</a:t>
            </a:r>
            <a:endParaRPr/>
          </a:p>
        </p:txBody>
      </p:sp>
      <p:sp>
        <p:nvSpPr>
          <p:cNvPr id="238" name="Google Shape;238;p29"/>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239" name="Google Shape;239;p29"/>
          <p:cNvPicPr preferRelativeResize="0"/>
          <p:nvPr/>
        </p:nvPicPr>
        <p:blipFill rotWithShape="1">
          <a:blip r:embed="rId3">
            <a:alphaModFix/>
          </a:blip>
          <a:srcRect b="0" l="0" r="0" t="0"/>
          <a:stretch/>
        </p:blipFill>
        <p:spPr>
          <a:xfrm>
            <a:off x="10107168" y="0"/>
            <a:ext cx="2084832" cy="1158240"/>
          </a:xfrm>
          <a:prstGeom prst="rect">
            <a:avLst/>
          </a:prstGeom>
          <a:noFill/>
          <a:ln>
            <a:noFill/>
          </a:ln>
        </p:spPr>
      </p:pic>
      <p:pic>
        <p:nvPicPr>
          <p:cNvPr id="240" name="Google Shape;240;p29"/>
          <p:cNvPicPr preferRelativeResize="0"/>
          <p:nvPr>
            <p:ph idx="1" type="body"/>
          </p:nvPr>
        </p:nvPicPr>
        <p:blipFill rotWithShape="1">
          <a:blip r:embed="rId4">
            <a:alphaModFix/>
          </a:blip>
          <a:srcRect b="0" l="0" r="0" t="0"/>
          <a:stretch/>
        </p:blipFill>
        <p:spPr>
          <a:xfrm>
            <a:off x="619760" y="2218822"/>
            <a:ext cx="10881360" cy="331837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RESULTS</a:t>
            </a:r>
            <a:endParaRPr/>
          </a:p>
        </p:txBody>
      </p:sp>
      <p:sp>
        <p:nvSpPr>
          <p:cNvPr id="246" name="Google Shape;246;p30"/>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247" name="Google Shape;247;p30"/>
          <p:cNvPicPr preferRelativeResize="0"/>
          <p:nvPr/>
        </p:nvPicPr>
        <p:blipFill rotWithShape="1">
          <a:blip r:embed="rId3">
            <a:alphaModFix/>
          </a:blip>
          <a:srcRect b="0" l="0" r="0" t="0"/>
          <a:stretch/>
        </p:blipFill>
        <p:spPr>
          <a:xfrm>
            <a:off x="10107168" y="0"/>
            <a:ext cx="2084832" cy="1158240"/>
          </a:xfrm>
          <a:prstGeom prst="rect">
            <a:avLst/>
          </a:prstGeom>
          <a:noFill/>
          <a:ln>
            <a:noFill/>
          </a:ln>
        </p:spPr>
      </p:pic>
      <p:pic>
        <p:nvPicPr>
          <p:cNvPr id="248" name="Google Shape;248;p30"/>
          <p:cNvPicPr preferRelativeResize="0"/>
          <p:nvPr>
            <p:ph idx="1" type="body"/>
          </p:nvPr>
        </p:nvPicPr>
        <p:blipFill rotWithShape="1">
          <a:blip r:embed="rId4">
            <a:alphaModFix/>
          </a:blip>
          <a:srcRect b="0" l="0" r="0" t="0"/>
          <a:stretch/>
        </p:blipFill>
        <p:spPr>
          <a:xfrm>
            <a:off x="480060" y="1995487"/>
            <a:ext cx="5219700" cy="2867025"/>
          </a:xfrm>
          <a:prstGeom prst="rect">
            <a:avLst/>
          </a:prstGeom>
          <a:noFill/>
          <a:ln>
            <a:noFill/>
          </a:ln>
        </p:spPr>
      </p:pic>
      <p:sp>
        <p:nvSpPr>
          <p:cNvPr id="249" name="Google Shape;249;p30"/>
          <p:cNvSpPr txBox="1"/>
          <p:nvPr/>
        </p:nvSpPr>
        <p:spPr>
          <a:xfrm>
            <a:off x="1769300" y="5000262"/>
            <a:ext cx="2641220" cy="368300"/>
          </a:xfrm>
          <a:prstGeom prst="rect">
            <a:avLst/>
          </a:prstGeom>
          <a:solidFill>
            <a:srgbClr val="EF96AC"/>
          </a:solidFill>
          <a:ln cap="flat" cmpd="sng" w="57150">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u="none" cap="none" strike="noStrike">
                <a:solidFill>
                  <a:schemeClr val="dk1"/>
                </a:solidFill>
                <a:latin typeface="Gill Sans"/>
                <a:ea typeface="Gill Sans"/>
                <a:cs typeface="Gill Sans"/>
                <a:sym typeface="Gill Sans"/>
              </a:rPr>
              <a:t>Output for AMC Unit Cell</a:t>
            </a:r>
            <a:endParaRPr/>
          </a:p>
        </p:txBody>
      </p:sp>
      <p:pic>
        <p:nvPicPr>
          <p:cNvPr id="250" name="Google Shape;250;p30"/>
          <p:cNvPicPr preferRelativeResize="0"/>
          <p:nvPr/>
        </p:nvPicPr>
        <p:blipFill rotWithShape="1">
          <a:blip r:embed="rId5">
            <a:alphaModFix/>
          </a:blip>
          <a:srcRect b="0" l="0" r="0" t="0"/>
          <a:stretch/>
        </p:blipFill>
        <p:spPr>
          <a:xfrm>
            <a:off x="5831828" y="1995487"/>
            <a:ext cx="5880112" cy="2867025"/>
          </a:xfrm>
          <a:prstGeom prst="rect">
            <a:avLst/>
          </a:prstGeom>
          <a:noFill/>
          <a:ln>
            <a:noFill/>
          </a:ln>
        </p:spPr>
      </p:pic>
      <p:sp>
        <p:nvSpPr>
          <p:cNvPr id="251" name="Google Shape;251;p30"/>
          <p:cNvSpPr txBox="1"/>
          <p:nvPr/>
        </p:nvSpPr>
        <p:spPr>
          <a:xfrm>
            <a:off x="7451274" y="5000262"/>
            <a:ext cx="2641220" cy="368300"/>
          </a:xfrm>
          <a:prstGeom prst="rect">
            <a:avLst/>
          </a:prstGeom>
          <a:solidFill>
            <a:srgbClr val="EF96AC"/>
          </a:solidFill>
          <a:ln cap="flat" cmpd="sng" w="57150">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u="none" cap="none" strike="noStrike">
                <a:solidFill>
                  <a:schemeClr val="dk1"/>
                </a:solidFill>
                <a:latin typeface="Gill Sans"/>
                <a:ea typeface="Gill Sans"/>
                <a:cs typeface="Gill Sans"/>
                <a:sym typeface="Gill Sans"/>
              </a:rPr>
              <a:t>Output for Patch Antenna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RESULTS</a:t>
            </a:r>
            <a:endParaRPr/>
          </a:p>
        </p:txBody>
      </p:sp>
      <p:pic>
        <p:nvPicPr>
          <p:cNvPr id="257" name="Google Shape;257;p31"/>
          <p:cNvPicPr preferRelativeResize="0"/>
          <p:nvPr>
            <p:ph idx="1" type="body"/>
          </p:nvPr>
        </p:nvPicPr>
        <p:blipFill rotWithShape="1">
          <a:blip r:embed="rId3">
            <a:alphaModFix/>
          </a:blip>
          <a:srcRect b="0" l="0" r="0" t="0"/>
          <a:stretch/>
        </p:blipFill>
        <p:spPr>
          <a:xfrm>
            <a:off x="480060" y="1996689"/>
            <a:ext cx="5409012" cy="2818592"/>
          </a:xfrm>
          <a:prstGeom prst="rect">
            <a:avLst/>
          </a:prstGeom>
          <a:noFill/>
          <a:ln>
            <a:noFill/>
          </a:ln>
        </p:spPr>
      </p:pic>
      <p:sp>
        <p:nvSpPr>
          <p:cNvPr id="258" name="Google Shape;258;p31"/>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259" name="Google Shape;259;p31"/>
          <p:cNvPicPr preferRelativeResize="0"/>
          <p:nvPr/>
        </p:nvPicPr>
        <p:blipFill rotWithShape="1">
          <a:blip r:embed="rId4">
            <a:alphaModFix/>
          </a:blip>
          <a:srcRect b="0" l="0" r="0" t="0"/>
          <a:stretch/>
        </p:blipFill>
        <p:spPr>
          <a:xfrm>
            <a:off x="10107168" y="-20320"/>
            <a:ext cx="2084832" cy="1158240"/>
          </a:xfrm>
          <a:prstGeom prst="rect">
            <a:avLst/>
          </a:prstGeom>
          <a:noFill/>
          <a:ln>
            <a:noFill/>
          </a:ln>
        </p:spPr>
      </p:pic>
      <p:sp>
        <p:nvSpPr>
          <p:cNvPr id="260" name="Google Shape;260;p31"/>
          <p:cNvSpPr txBox="1"/>
          <p:nvPr/>
        </p:nvSpPr>
        <p:spPr>
          <a:xfrm>
            <a:off x="1257436" y="4958216"/>
            <a:ext cx="3854260" cy="369332"/>
          </a:xfrm>
          <a:prstGeom prst="rect">
            <a:avLst/>
          </a:prstGeom>
          <a:solidFill>
            <a:srgbClr val="EF96AC"/>
          </a:solidFill>
          <a:ln cap="flat" cmpd="sng" w="57150">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u="none" cap="none" strike="noStrike">
                <a:solidFill>
                  <a:schemeClr val="dk1"/>
                </a:solidFill>
                <a:latin typeface="Gill Sans"/>
                <a:ea typeface="Gill Sans"/>
                <a:cs typeface="Gill Sans"/>
                <a:sym typeface="Gill Sans"/>
              </a:rPr>
              <a:t>S11 parameter of simple patch antenna</a:t>
            </a:r>
            <a:endParaRPr b="0" i="0" sz="1800" u="none" cap="none" strike="noStrike">
              <a:solidFill>
                <a:schemeClr val="dk1"/>
              </a:solidFill>
              <a:latin typeface="Gill Sans"/>
              <a:ea typeface="Gill Sans"/>
              <a:cs typeface="Gill Sans"/>
              <a:sym typeface="Gill Sans"/>
            </a:endParaRPr>
          </a:p>
        </p:txBody>
      </p:sp>
      <p:pic>
        <p:nvPicPr>
          <p:cNvPr id="261" name="Google Shape;261;p31"/>
          <p:cNvPicPr preferRelativeResize="0"/>
          <p:nvPr/>
        </p:nvPicPr>
        <p:blipFill rotWithShape="1">
          <a:blip r:embed="rId5">
            <a:alphaModFix/>
          </a:blip>
          <a:srcRect b="0" l="0" r="0" t="0"/>
          <a:stretch/>
        </p:blipFill>
        <p:spPr>
          <a:xfrm>
            <a:off x="6373571" y="1996689"/>
            <a:ext cx="5338369" cy="2818592"/>
          </a:xfrm>
          <a:prstGeom prst="rect">
            <a:avLst/>
          </a:prstGeom>
          <a:noFill/>
          <a:ln>
            <a:noFill/>
          </a:ln>
        </p:spPr>
      </p:pic>
      <p:sp>
        <p:nvSpPr>
          <p:cNvPr id="262" name="Google Shape;262;p31"/>
          <p:cNvSpPr txBox="1"/>
          <p:nvPr/>
        </p:nvSpPr>
        <p:spPr>
          <a:xfrm>
            <a:off x="6992856" y="4958216"/>
            <a:ext cx="4099797" cy="369332"/>
          </a:xfrm>
          <a:prstGeom prst="rect">
            <a:avLst/>
          </a:prstGeom>
          <a:solidFill>
            <a:srgbClr val="EF96AC"/>
          </a:solidFill>
          <a:ln cap="flat" cmpd="sng" w="57150">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u="none" cap="none" strike="noStrike">
                <a:solidFill>
                  <a:schemeClr val="dk1"/>
                </a:solidFill>
                <a:latin typeface="Gill Sans"/>
                <a:ea typeface="Gill Sans"/>
                <a:cs typeface="Gill Sans"/>
                <a:sym typeface="Gill Sans"/>
              </a:rPr>
              <a:t>Radiation pattern of simple patch antenna</a:t>
            </a:r>
            <a:endParaRPr b="0" i="0" sz="1800" u="none" cap="none" strike="noStrike">
              <a:solidFill>
                <a:schemeClr val="dk1"/>
              </a:solidFill>
              <a:latin typeface="Gill Sans"/>
              <a:ea typeface="Gill Sans"/>
              <a:cs typeface="Gill Sans"/>
              <a:sym typeface="Gill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RESULTS</a:t>
            </a:r>
            <a:endParaRPr/>
          </a:p>
        </p:txBody>
      </p:sp>
      <p:pic>
        <p:nvPicPr>
          <p:cNvPr id="268" name="Google Shape;268;p32"/>
          <p:cNvPicPr preferRelativeResize="0"/>
          <p:nvPr>
            <p:ph idx="1" type="body"/>
          </p:nvPr>
        </p:nvPicPr>
        <p:blipFill rotWithShape="1">
          <a:blip r:embed="rId3">
            <a:alphaModFix/>
          </a:blip>
          <a:srcRect b="0" l="0" r="0" t="0"/>
          <a:stretch/>
        </p:blipFill>
        <p:spPr>
          <a:xfrm>
            <a:off x="480059" y="2127390"/>
            <a:ext cx="5375457" cy="2876857"/>
          </a:xfrm>
          <a:prstGeom prst="rect">
            <a:avLst/>
          </a:prstGeom>
          <a:noFill/>
          <a:ln>
            <a:noFill/>
          </a:ln>
        </p:spPr>
      </p:pic>
      <p:sp>
        <p:nvSpPr>
          <p:cNvPr id="269" name="Google Shape;269;p32"/>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270" name="Google Shape;270;p32"/>
          <p:cNvPicPr preferRelativeResize="0"/>
          <p:nvPr/>
        </p:nvPicPr>
        <p:blipFill rotWithShape="1">
          <a:blip r:embed="rId4">
            <a:alphaModFix/>
          </a:blip>
          <a:srcRect b="0" l="0" r="0" t="0"/>
          <a:stretch/>
        </p:blipFill>
        <p:spPr>
          <a:xfrm>
            <a:off x="10107168" y="-20320"/>
            <a:ext cx="2084832" cy="1158240"/>
          </a:xfrm>
          <a:prstGeom prst="rect">
            <a:avLst/>
          </a:prstGeom>
          <a:noFill/>
          <a:ln>
            <a:noFill/>
          </a:ln>
        </p:spPr>
      </p:pic>
      <p:pic>
        <p:nvPicPr>
          <p:cNvPr id="271" name="Google Shape;271;p32"/>
          <p:cNvPicPr preferRelativeResize="0"/>
          <p:nvPr/>
        </p:nvPicPr>
        <p:blipFill rotWithShape="1">
          <a:blip r:embed="rId5">
            <a:alphaModFix/>
          </a:blip>
          <a:srcRect b="0" l="0" r="0" t="0"/>
          <a:stretch/>
        </p:blipFill>
        <p:spPr>
          <a:xfrm>
            <a:off x="6096001" y="2127390"/>
            <a:ext cx="5556308" cy="2876857"/>
          </a:xfrm>
          <a:prstGeom prst="rect">
            <a:avLst/>
          </a:prstGeom>
          <a:noFill/>
          <a:ln>
            <a:noFill/>
          </a:ln>
        </p:spPr>
      </p:pic>
      <p:sp>
        <p:nvSpPr>
          <p:cNvPr id="272" name="Google Shape;272;p32"/>
          <p:cNvSpPr txBox="1"/>
          <p:nvPr/>
        </p:nvSpPr>
        <p:spPr>
          <a:xfrm>
            <a:off x="312280" y="5121773"/>
            <a:ext cx="5543236" cy="369332"/>
          </a:xfrm>
          <a:prstGeom prst="rect">
            <a:avLst/>
          </a:prstGeom>
          <a:solidFill>
            <a:srgbClr val="EF96AC"/>
          </a:solidFill>
          <a:ln cap="flat" cmpd="sng" w="57150">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u="none" cap="none" strike="noStrike">
                <a:solidFill>
                  <a:schemeClr val="dk1"/>
                </a:solidFill>
                <a:latin typeface="Gill Sans"/>
                <a:ea typeface="Gill Sans"/>
                <a:cs typeface="Gill Sans"/>
                <a:sym typeface="Gill Sans"/>
              </a:rPr>
              <a:t>S11 parameter of simple patch antenna backed with AMC</a:t>
            </a:r>
            <a:endParaRPr b="0" i="0" sz="1800" u="none" cap="none" strike="noStrike">
              <a:solidFill>
                <a:schemeClr val="dk1"/>
              </a:solidFill>
              <a:latin typeface="Gill Sans"/>
              <a:ea typeface="Gill Sans"/>
              <a:cs typeface="Gill Sans"/>
              <a:sym typeface="Gill Sans"/>
            </a:endParaRPr>
          </a:p>
        </p:txBody>
      </p:sp>
      <p:sp>
        <p:nvSpPr>
          <p:cNvPr id="273" name="Google Shape;273;p32"/>
          <p:cNvSpPr txBox="1"/>
          <p:nvPr/>
        </p:nvSpPr>
        <p:spPr>
          <a:xfrm>
            <a:off x="6718182" y="5121773"/>
            <a:ext cx="4311945" cy="369332"/>
          </a:xfrm>
          <a:prstGeom prst="rect">
            <a:avLst/>
          </a:prstGeom>
          <a:solidFill>
            <a:srgbClr val="EF96AC"/>
          </a:solidFill>
          <a:ln cap="flat" cmpd="sng" w="57150">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u="none" cap="none" strike="noStrike">
                <a:solidFill>
                  <a:schemeClr val="dk1"/>
                </a:solidFill>
                <a:latin typeface="Gill Sans"/>
                <a:ea typeface="Gill Sans"/>
                <a:cs typeface="Gill Sans"/>
                <a:sym typeface="Gill Sans"/>
              </a:rPr>
              <a:t>Gain of the patch antenna backed with AMC</a:t>
            </a:r>
            <a:endParaRPr b="0" i="0" sz="1800" u="none" cap="none" strike="noStrike">
              <a:solidFill>
                <a:schemeClr val="dk1"/>
              </a:solidFill>
              <a:latin typeface="Gill Sans"/>
              <a:ea typeface="Gill Sans"/>
              <a:cs typeface="Gill Sans"/>
              <a:sym typeface="Gill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PUBLICATION STATUS</a:t>
            </a:r>
            <a:endParaRPr/>
          </a:p>
        </p:txBody>
      </p:sp>
      <p:sp>
        <p:nvSpPr>
          <p:cNvPr id="279" name="Google Shape;279;p33"/>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SzPts val="2000"/>
              <a:buNone/>
            </a:pPr>
            <a:r>
              <a:rPr lang="en-IN" sz="2000">
                <a:latin typeface="Times New Roman"/>
                <a:ea typeface="Times New Roman"/>
                <a:cs typeface="Times New Roman"/>
                <a:sym typeface="Times New Roman"/>
              </a:rPr>
              <a:t>Our Paper titled “Design and Analysis of Artificial Magnetic Conductor (AMC) for 5G Communication” has been accepted and waiting for the presentation.    </a:t>
            </a:r>
            <a:endParaRPr/>
          </a:p>
        </p:txBody>
      </p:sp>
      <p:sp>
        <p:nvSpPr>
          <p:cNvPr id="280" name="Google Shape;280;p33"/>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281" name="Google Shape;281;p33"/>
          <p:cNvPicPr preferRelativeResize="0"/>
          <p:nvPr/>
        </p:nvPicPr>
        <p:blipFill rotWithShape="1">
          <a:blip r:embed="rId3">
            <a:alphaModFix/>
          </a:blip>
          <a:srcRect b="0" l="0" r="0" t="0"/>
          <a:stretch/>
        </p:blipFill>
        <p:spPr>
          <a:xfrm>
            <a:off x="10107168" y="-20320"/>
            <a:ext cx="2084832" cy="115824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CONCLUSIONS</a:t>
            </a:r>
            <a:endParaRPr/>
          </a:p>
        </p:txBody>
      </p:sp>
      <p:sp>
        <p:nvSpPr>
          <p:cNvPr id="287" name="Google Shape;287;p34"/>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Font typeface="Noto Sans Symbols"/>
              <a:buChar char="⮚"/>
            </a:pPr>
            <a:r>
              <a:rPr lang="en-IN">
                <a:latin typeface="Times New Roman"/>
                <a:ea typeface="Times New Roman"/>
                <a:cs typeface="Times New Roman"/>
                <a:sym typeface="Times New Roman"/>
              </a:rPr>
              <a:t>Thus, AMCs have become an important tool for the design and optimization of a wide range of electromagnetic systems and applications. Their ability to suppress or control electromagnetic waves over a wide range of frequencies.</a:t>
            </a:r>
            <a:endParaRPr/>
          </a:p>
          <a:p>
            <a:pPr indent="-228600" lvl="0" marL="228600" rtl="0" algn="l">
              <a:lnSpc>
                <a:spcPct val="120000"/>
              </a:lnSpc>
              <a:spcBef>
                <a:spcPts val="1000"/>
              </a:spcBef>
              <a:spcAft>
                <a:spcPts val="0"/>
              </a:spcAft>
              <a:buSzPts val="2000"/>
              <a:buFont typeface="Noto Sans Symbols"/>
              <a:buChar char="⮚"/>
            </a:pPr>
            <a:r>
              <a:rPr lang="en-IN">
                <a:latin typeface="Times New Roman"/>
                <a:ea typeface="Times New Roman"/>
                <a:cs typeface="Times New Roman"/>
                <a:sym typeface="Times New Roman"/>
              </a:rPr>
              <a:t>The size of the unit cell is 9.6mm x 9.6mm x 3.2mm.</a:t>
            </a:r>
            <a:endParaRPr/>
          </a:p>
          <a:p>
            <a:pPr indent="-228600" lvl="0" marL="228600" rtl="0" algn="l">
              <a:lnSpc>
                <a:spcPct val="120000"/>
              </a:lnSpc>
              <a:spcBef>
                <a:spcPts val="1000"/>
              </a:spcBef>
              <a:spcAft>
                <a:spcPts val="0"/>
              </a:spcAft>
              <a:buSzPts val="2000"/>
              <a:buFont typeface="Noto Sans Symbols"/>
              <a:buChar char="⮚"/>
            </a:pPr>
            <a:r>
              <a:rPr lang="en-IN">
                <a:latin typeface="Times New Roman"/>
                <a:ea typeface="Times New Roman"/>
                <a:cs typeface="Times New Roman"/>
                <a:sym typeface="Times New Roman"/>
              </a:rPr>
              <a:t>The gain of the monopole antenna is 2.81 dB without AMC and when AMC is used the gain is improved to 5.62 dB.</a:t>
            </a:r>
            <a:endParaRPr>
              <a:latin typeface="Times New Roman"/>
              <a:ea typeface="Times New Roman"/>
              <a:cs typeface="Times New Roman"/>
              <a:sym typeface="Times New Roman"/>
            </a:endParaRPr>
          </a:p>
          <a:p>
            <a:pPr indent="-228600" lvl="0" marL="228600" rtl="0" algn="l">
              <a:lnSpc>
                <a:spcPct val="120000"/>
              </a:lnSpc>
              <a:spcBef>
                <a:spcPts val="1000"/>
              </a:spcBef>
              <a:spcAft>
                <a:spcPts val="0"/>
              </a:spcAft>
              <a:buSzPts val="2000"/>
              <a:buFont typeface="Noto Sans Symbols"/>
              <a:buChar char="⮚"/>
            </a:pPr>
            <a:r>
              <a:rPr lang="en-IN">
                <a:latin typeface="Times New Roman"/>
                <a:ea typeface="Times New Roman"/>
                <a:cs typeface="Times New Roman"/>
                <a:sym typeface="Times New Roman"/>
              </a:rPr>
              <a:t>The demo model has been designed for 3.5 GHz and modified to get a compact size.</a:t>
            </a:r>
            <a:endParaRPr/>
          </a:p>
        </p:txBody>
      </p:sp>
      <p:sp>
        <p:nvSpPr>
          <p:cNvPr id="288" name="Google Shape;288;p34"/>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289" name="Google Shape;289;p34"/>
          <p:cNvPicPr preferRelativeResize="0"/>
          <p:nvPr/>
        </p:nvPicPr>
        <p:blipFill rotWithShape="1">
          <a:blip r:embed="rId3">
            <a:alphaModFix/>
          </a:blip>
          <a:srcRect b="0" l="0" r="0" t="0"/>
          <a:stretch/>
        </p:blipFill>
        <p:spPr>
          <a:xfrm>
            <a:off x="10107168" y="0"/>
            <a:ext cx="2084832" cy="115824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REFERENCES</a:t>
            </a:r>
            <a:endParaRPr/>
          </a:p>
        </p:txBody>
      </p:sp>
      <p:sp>
        <p:nvSpPr>
          <p:cNvPr id="295" name="Google Shape;295;p35"/>
          <p:cNvSpPr txBox="1"/>
          <p:nvPr>
            <p:ph idx="1" type="body"/>
          </p:nvPr>
        </p:nvSpPr>
        <p:spPr>
          <a:xfrm>
            <a:off x="1451579" y="2015732"/>
            <a:ext cx="9603275" cy="4037749"/>
          </a:xfrm>
          <a:prstGeom prst="rect">
            <a:avLst/>
          </a:prstGeom>
          <a:noFill/>
          <a:ln>
            <a:noFill/>
          </a:ln>
        </p:spPr>
        <p:txBody>
          <a:bodyPr anchorCtr="0" anchor="t" bIns="45700" lIns="91425" spcFirstLastPara="1" rIns="91425" wrap="square" tIns="45700">
            <a:noAutofit/>
          </a:bodyPr>
          <a:lstStyle/>
          <a:p>
            <a:pPr indent="-228600" lvl="0" marL="228600" rtl="0" algn="l">
              <a:lnSpc>
                <a:spcPct val="120000"/>
              </a:lnSpc>
              <a:spcBef>
                <a:spcPts val="0"/>
              </a:spcBef>
              <a:spcAft>
                <a:spcPts val="0"/>
              </a:spcAft>
              <a:buSzPts val="2000"/>
              <a:buFont typeface="Noto Sans Symbols"/>
              <a:buChar char="⮚"/>
            </a:pPr>
            <a:r>
              <a:rPr lang="en-IN">
                <a:latin typeface="Times New Roman"/>
                <a:ea typeface="Times New Roman"/>
                <a:cs typeface="Times New Roman"/>
                <a:sym typeface="Times New Roman"/>
              </a:rPr>
              <a:t>B. Wang, C. Liao and C. -H. Du, "A Low-Profile Broadband Dual-Polarized Base Station Antenna Array With Well-Suppressed Cross-Polarization," in IEEE Transactions on Antennas and Propagation, vol. 69, no. 12, pp. 8354-8365, Dec. 2021, doi: 10.1109/TAP.2021.3083728.</a:t>
            </a:r>
            <a:endParaRPr/>
          </a:p>
          <a:p>
            <a:pPr indent="-228600" lvl="0" marL="228600" rtl="0" algn="l">
              <a:lnSpc>
                <a:spcPct val="120000"/>
              </a:lnSpc>
              <a:spcBef>
                <a:spcPts val="1000"/>
              </a:spcBef>
              <a:spcAft>
                <a:spcPts val="0"/>
              </a:spcAft>
              <a:buSzPts val="2000"/>
              <a:buFont typeface="Noto Sans Symbols"/>
              <a:buChar char="⮚"/>
            </a:pPr>
            <a:r>
              <a:rPr lang="en-IN">
                <a:latin typeface="Times New Roman"/>
                <a:ea typeface="Times New Roman"/>
                <a:cs typeface="Times New Roman"/>
                <a:sym typeface="Times New Roman"/>
              </a:rPr>
              <a:t>Z. Nie, H. Zhai, L. Liu, J. Li, D. Hu and J. Shi, "A Dual-Polarized Frequency-Reconfigurable Low-Profile Antenna With Harmonic Suppression for 5G Application," in IEEE Antennas and Wireless Propagation Letters, vol. 18, no. 6, pp. 1228-1232, June 2019, doi: 10.1109/LAWP.2019.2913170.</a:t>
            </a:r>
            <a:endParaRPr/>
          </a:p>
        </p:txBody>
      </p:sp>
      <p:sp>
        <p:nvSpPr>
          <p:cNvPr id="296" name="Google Shape;296;p35"/>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297" name="Google Shape;297;p35"/>
          <p:cNvPicPr preferRelativeResize="0"/>
          <p:nvPr/>
        </p:nvPicPr>
        <p:blipFill rotWithShape="1">
          <a:blip r:embed="rId3">
            <a:alphaModFix/>
          </a:blip>
          <a:srcRect b="0" l="0" r="0" t="0"/>
          <a:stretch/>
        </p:blipFill>
        <p:spPr>
          <a:xfrm>
            <a:off x="10107168" y="-20320"/>
            <a:ext cx="2084832" cy="115824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6"/>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REFERENCES</a:t>
            </a:r>
            <a:endParaRPr/>
          </a:p>
        </p:txBody>
      </p:sp>
      <p:sp>
        <p:nvSpPr>
          <p:cNvPr id="303" name="Google Shape;303;p36"/>
          <p:cNvSpPr txBox="1"/>
          <p:nvPr>
            <p:ph idx="1" type="body"/>
          </p:nvPr>
        </p:nvSpPr>
        <p:spPr>
          <a:xfrm>
            <a:off x="1451579" y="2015732"/>
            <a:ext cx="9603275" cy="3938028"/>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Font typeface="Noto Sans Symbols"/>
              <a:buChar char="⮚"/>
            </a:pPr>
            <a:r>
              <a:rPr lang="en-IN" sz="2000">
                <a:latin typeface="Times New Roman"/>
                <a:ea typeface="Times New Roman"/>
                <a:cs typeface="Times New Roman"/>
                <a:sym typeface="Times New Roman"/>
              </a:rPr>
              <a:t>S. Yang, L. Liang, W. Wang, Z. Fang and Y. Zheng, "Wideband Gain Enhancement of an AMC Cavity-Backed Dual-Polarized Antenna," in IEEE Transactions on Vehicular Technology, vol. 70, no. 12, pp. 12703-12712, Dec. 2021, doi: 10.1109/TVT.2021.3119643.</a:t>
            </a:r>
            <a:endParaRPr/>
          </a:p>
          <a:p>
            <a:pPr indent="-228600" lvl="0" marL="228600" rtl="0" algn="l">
              <a:lnSpc>
                <a:spcPct val="120000"/>
              </a:lnSpc>
              <a:spcBef>
                <a:spcPts val="1000"/>
              </a:spcBef>
              <a:spcAft>
                <a:spcPts val="0"/>
              </a:spcAft>
              <a:buSzPts val="2000"/>
              <a:buFont typeface="Noto Sans Symbols"/>
              <a:buChar char="⮚"/>
            </a:pPr>
            <a:r>
              <a:rPr lang="en-IN">
                <a:latin typeface="Times New Roman"/>
                <a:ea typeface="Times New Roman"/>
                <a:cs typeface="Times New Roman"/>
                <a:sym typeface="Times New Roman"/>
              </a:rPr>
              <a:t>Ali Abdulateef Abdulbari, Sharul Kamal Abdul Rahim, Firas Abedi, Ping Jack Soh, Ali Hashim, Rami Qays, Sarosh Ahmad, Mohammed Yousif Zeain, "Single-Layer Planar Monopole Antenna-Based Artificial Magnetic Conductor (AMC)", International Journal of Antennas and Propagation, vol. 2022, Article ID 6724175, 9 pages, 2022.</a:t>
            </a:r>
            <a:endParaRPr sz="2000">
              <a:latin typeface="Times New Roman"/>
              <a:ea typeface="Times New Roman"/>
              <a:cs typeface="Times New Roman"/>
              <a:sym typeface="Times New Roman"/>
            </a:endParaRPr>
          </a:p>
          <a:p>
            <a:pPr indent="0" lvl="0" marL="0" rtl="0" algn="l">
              <a:lnSpc>
                <a:spcPct val="120000"/>
              </a:lnSpc>
              <a:spcBef>
                <a:spcPts val="1000"/>
              </a:spcBef>
              <a:spcAft>
                <a:spcPts val="0"/>
              </a:spcAft>
              <a:buSzPts val="2000"/>
              <a:buNone/>
            </a:pPr>
            <a:r>
              <a:t/>
            </a:r>
            <a:endParaRPr/>
          </a:p>
        </p:txBody>
      </p:sp>
      <p:sp>
        <p:nvSpPr>
          <p:cNvPr id="304" name="Google Shape;304;p36"/>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305" name="Google Shape;305;p36"/>
          <p:cNvPicPr preferRelativeResize="0"/>
          <p:nvPr/>
        </p:nvPicPr>
        <p:blipFill rotWithShape="1">
          <a:blip r:embed="rId3">
            <a:alphaModFix/>
          </a:blip>
          <a:srcRect b="0" l="0" r="0" t="0"/>
          <a:stretch/>
        </p:blipFill>
        <p:spPr>
          <a:xfrm>
            <a:off x="10107168" y="-20320"/>
            <a:ext cx="2084832" cy="115824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IN" sz="2800">
                <a:latin typeface="Times New Roman"/>
                <a:ea typeface="Times New Roman"/>
                <a:cs typeface="Times New Roman"/>
                <a:sym typeface="Times New Roman"/>
              </a:rPr>
              <a:t>REFERENCES</a:t>
            </a:r>
            <a:endParaRPr/>
          </a:p>
        </p:txBody>
      </p:sp>
      <p:sp>
        <p:nvSpPr>
          <p:cNvPr id="311" name="Google Shape;311;p37"/>
          <p:cNvSpPr txBox="1"/>
          <p:nvPr>
            <p:ph idx="1" type="body"/>
          </p:nvPr>
        </p:nvSpPr>
        <p:spPr>
          <a:xfrm>
            <a:off x="1451579" y="2015732"/>
            <a:ext cx="9603275" cy="3938028"/>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Font typeface="Noto Sans Symbols"/>
              <a:buChar char="⮚"/>
            </a:pPr>
            <a:r>
              <a:rPr lang="en-IN">
                <a:latin typeface="Times New Roman"/>
                <a:ea typeface="Times New Roman"/>
                <a:cs typeface="Times New Roman"/>
                <a:sym typeface="Times New Roman"/>
              </a:rPr>
              <a:t>S. Khan et al., "Miniaturization of Dielectric Resonator Antenna by Using Artificial Magnetic Conductor Surface," in IEEE Access, vol. 8, pp. 68548-68558, 2020, doi: 10.1109/ACCESS.2020.2986048.</a:t>
            </a:r>
            <a:endParaRPr sz="2000">
              <a:latin typeface="Times New Roman"/>
              <a:ea typeface="Times New Roman"/>
              <a:cs typeface="Times New Roman"/>
              <a:sym typeface="Times New Roman"/>
            </a:endParaRPr>
          </a:p>
          <a:p>
            <a:pPr indent="-228600" lvl="0" marL="228600" rtl="0" algn="l">
              <a:lnSpc>
                <a:spcPct val="120000"/>
              </a:lnSpc>
              <a:spcBef>
                <a:spcPts val="1000"/>
              </a:spcBef>
              <a:spcAft>
                <a:spcPts val="0"/>
              </a:spcAft>
              <a:buSzPts val="2000"/>
              <a:buFont typeface="Noto Sans Symbols"/>
              <a:buChar char="⮚"/>
            </a:pPr>
            <a:r>
              <a:rPr lang="en-IN" sz="2000">
                <a:latin typeface="Times New Roman"/>
                <a:ea typeface="Times New Roman"/>
                <a:cs typeface="Times New Roman"/>
                <a:sym typeface="Times New Roman"/>
              </a:rPr>
              <a:t>R. Dewan, M. K. A. Rahim, M. R. Hamid, H. A. Majid and M. F. M. Yusoff, "Ultra-wideband antenna with tuneable Artificial Magnetic Conductor," 2014 International Symposium on Antennas and Propagation Conference Proceedings, Kaohsiung, Taiwan, 2014, pp. 105-106, doi: 10.1109/ISANP.2014.7026552.</a:t>
            </a:r>
            <a:endParaRPr/>
          </a:p>
          <a:p>
            <a:pPr indent="-228600" lvl="0" marL="228600" rtl="0" algn="l">
              <a:lnSpc>
                <a:spcPct val="120000"/>
              </a:lnSpc>
              <a:spcBef>
                <a:spcPts val="1000"/>
              </a:spcBef>
              <a:spcAft>
                <a:spcPts val="0"/>
              </a:spcAft>
              <a:buSzPts val="2000"/>
              <a:buFont typeface="Noto Sans Symbols"/>
              <a:buChar char="⮚"/>
            </a:pPr>
            <a:r>
              <a:rPr lang="en-IN" u="sng">
                <a:solidFill>
                  <a:schemeClr val="hlink"/>
                </a:solidFill>
                <a:latin typeface="Times New Roman"/>
                <a:ea typeface="Times New Roman"/>
                <a:cs typeface="Times New Roman"/>
                <a:sym typeface="Times New Roman"/>
                <a:hlinkClick r:id="rId3"/>
              </a:rPr>
              <a:t>https://www.youtube.com/watch?v=0C37Zvy3Ubk</a:t>
            </a:r>
            <a:endParaRPr>
              <a:latin typeface="Times New Roman"/>
              <a:ea typeface="Times New Roman"/>
              <a:cs typeface="Times New Roman"/>
              <a:sym typeface="Times New Roman"/>
            </a:endParaRPr>
          </a:p>
          <a:p>
            <a:pPr indent="-228600" lvl="0" marL="228600" rtl="0" algn="l">
              <a:lnSpc>
                <a:spcPct val="120000"/>
              </a:lnSpc>
              <a:spcBef>
                <a:spcPts val="1000"/>
              </a:spcBef>
              <a:spcAft>
                <a:spcPts val="0"/>
              </a:spcAft>
              <a:buSzPts val="2000"/>
              <a:buFont typeface="Noto Sans Symbols"/>
              <a:buChar char="⮚"/>
            </a:pPr>
            <a:r>
              <a:rPr lang="en-IN" sz="2000" u="sng">
                <a:solidFill>
                  <a:schemeClr val="hlink"/>
                </a:solidFill>
                <a:latin typeface="Times New Roman"/>
                <a:ea typeface="Times New Roman"/>
                <a:cs typeface="Times New Roman"/>
                <a:sym typeface="Times New Roman"/>
                <a:hlinkClick r:id="rId4"/>
              </a:rPr>
              <a:t>https://www.youtube.com/watch?v=yi2MmOE_nKo</a:t>
            </a:r>
            <a:endParaRPr sz="2000">
              <a:latin typeface="Times New Roman"/>
              <a:ea typeface="Times New Roman"/>
              <a:cs typeface="Times New Roman"/>
              <a:sym typeface="Times New Roman"/>
            </a:endParaRPr>
          </a:p>
          <a:p>
            <a:pPr indent="-101600" lvl="0" marL="228600" rtl="0" algn="l">
              <a:lnSpc>
                <a:spcPct val="120000"/>
              </a:lnSpc>
              <a:spcBef>
                <a:spcPts val="1000"/>
              </a:spcBef>
              <a:spcAft>
                <a:spcPts val="0"/>
              </a:spcAft>
              <a:buSzPts val="2000"/>
              <a:buNone/>
            </a:pPr>
            <a:r>
              <a:t/>
            </a:r>
            <a:endParaRPr/>
          </a:p>
        </p:txBody>
      </p:sp>
      <p:sp>
        <p:nvSpPr>
          <p:cNvPr id="312" name="Google Shape;312;p37"/>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pic>
        <p:nvPicPr>
          <p:cNvPr id="313" name="Google Shape;313;p37"/>
          <p:cNvPicPr preferRelativeResize="0"/>
          <p:nvPr/>
        </p:nvPicPr>
        <p:blipFill rotWithShape="1">
          <a:blip r:embed="rId5">
            <a:alphaModFix/>
          </a:blip>
          <a:srcRect b="0" l="0" r="0" t="0"/>
          <a:stretch/>
        </p:blipFill>
        <p:spPr>
          <a:xfrm>
            <a:off x="10107168" y="-20320"/>
            <a:ext cx="2084832" cy="115824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8"/>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b="1" lang="en-IN">
                <a:latin typeface="Times New Roman"/>
                <a:ea typeface="Times New Roman"/>
                <a:cs typeface="Times New Roman"/>
                <a:sym typeface="Times New Roman"/>
              </a:rPr>
              <a:t>‹#›</a:t>
            </a:fld>
            <a:endParaRPr b="1">
              <a:latin typeface="Times New Roman"/>
              <a:ea typeface="Times New Roman"/>
              <a:cs typeface="Times New Roman"/>
              <a:sym typeface="Times New Roman"/>
            </a:endParaRPr>
          </a:p>
        </p:txBody>
      </p:sp>
      <p:sp>
        <p:nvSpPr>
          <p:cNvPr id="319" name="Google Shape;319;p38"/>
          <p:cNvSpPr txBox="1"/>
          <p:nvPr/>
        </p:nvSpPr>
        <p:spPr>
          <a:xfrm>
            <a:off x="264160" y="2828835"/>
            <a:ext cx="1164336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7200" u="none" cap="none" strike="noStrike">
                <a:solidFill>
                  <a:schemeClr val="dk1"/>
                </a:solidFill>
                <a:latin typeface="Times New Roman"/>
                <a:ea typeface="Times New Roman"/>
                <a:cs typeface="Times New Roman"/>
                <a:sym typeface="Times New Roman"/>
              </a:rPr>
              <a:t>THANK YOU</a:t>
            </a:r>
            <a:endParaRPr b="0" i="0" sz="7200" u="none" cap="none" strike="noStrike">
              <a:solidFill>
                <a:schemeClr val="dk1"/>
              </a:solidFill>
              <a:latin typeface="Gill Sans"/>
              <a:ea typeface="Gill Sans"/>
              <a:cs typeface="Gill Sans"/>
              <a:sym typeface="Gill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